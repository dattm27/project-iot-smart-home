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9" autoAdjust="0"/>
    <p:restoredTop sz="80901"/>
  </p:normalViewPr>
  <p:slideViewPr>
    <p:cSldViewPr snapToGrid="0">
      <p:cViewPr varScale="1">
        <p:scale>
          <a:sx n="92" d="100"/>
          <a:sy n="92" d="100"/>
        </p:scale>
        <p:origin x="17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7/20/26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200" b="0" i="1" kern="1200" dirty="0">
                <a:solidFill>
                  <a:schemeClr val="tx1"/>
                </a:solidFill>
                <a:effectLst/>
                <a:latin typeface="+mn-lt"/>
                <a:ea typeface="+mn-ea"/>
                <a:cs typeface="+mn-cs"/>
              </a:rPr>
              <a:t>Em xin chào thầy/cô và các bạn. Em xin trình bày bài tập lớn môn Kiến trúc và Bảo mật trong hệ thống IoT, đề tài: </a:t>
            </a:r>
            <a:r>
              <a:rPr lang="en-VN" sz="1200" b="1" kern="1200" dirty="0">
                <a:solidFill>
                  <a:schemeClr val="tx1"/>
                </a:solidFill>
                <a:effectLst/>
                <a:latin typeface="+mn-lt"/>
                <a:ea typeface="+mn-ea"/>
                <a:cs typeface="+mn-cs"/>
              </a:rPr>
              <a:t>**Bảo mật hệ thống IoT — case study nhà thông minh**</a:t>
            </a:r>
            <a:r>
              <a:rPr lang="en-VN" sz="1200" b="0" i="1" kern="1200" dirty="0">
                <a:solidFill>
                  <a:schemeClr val="tx1"/>
                </a:solidFill>
                <a:effectLst/>
                <a:latin typeface="+mn-lt"/>
                <a:ea typeface="+mn-ea"/>
                <a:cs typeface="+mn-cs"/>
              </a:rPr>
              <a:t>. Nhóm em gồm [đọc tên 4 thành viên trên slide].</a:t>
            </a: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2</a:t>
            </a:fld>
            <a:endParaRPr lang="en-US"/>
          </a:p>
        </p:txBody>
      </p:sp>
    </p:spTree>
    <p:extLst>
      <p:ext uri="{BB962C8B-B14F-4D97-AF65-F5344CB8AC3E}">
        <p14:creationId xmlns:p14="http://schemas.microsoft.com/office/powerpoint/2010/main" val="3349262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200" b="0" i="1" kern="1200" dirty="0">
                <a:solidFill>
                  <a:schemeClr val="tx1"/>
                </a:solidFill>
                <a:effectLst/>
                <a:latin typeface="+mn-lt"/>
                <a:ea typeface="+mn-ea"/>
                <a:cs typeface="+mn-cs"/>
              </a:rPr>
              <a:t>Bài trình bày của nhóm em gồm 5 phần: giới thiệu và yêu cầu hệ thống, kiến trúc tổng quan, triển khai xây dựng hệ thống, bảo mật hệ thống, và cuối cùng là kết quả, hạn chế, kết luận.</a:t>
            </a: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3</a:t>
            </a:fld>
            <a:endParaRPr lang="en-US"/>
          </a:p>
        </p:txBody>
      </p:sp>
    </p:spTree>
    <p:extLst>
      <p:ext uri="{BB962C8B-B14F-4D97-AF65-F5344CB8AC3E}">
        <p14:creationId xmlns:p14="http://schemas.microsoft.com/office/powerpoint/2010/main" val="4084080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Nhà thông minh là bài toán rất phù hợp để thể hiện đầy đủ các thành phần cơ bản của một hệ thống IoT: từ thiết bị phần cứng thu thập dữ liệu môi trường, cho tới backend xử lý nghiệp vụ, lưu trữ dữ liệu, và mobile app để người dùng theo dõi, điều khiển.</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Mục tiêu của nhóm là xây dựng một hệ thống hoàn chỉnh ở mức demo, hoạt động thật với phần cứng ESP32 và ứng dụng mobile thật — không chỉ là mô phỏng trên giấy.</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Về mặt ý nghĩa, đây là dịp để nhóm nghiên cứu và áp dụng các kỹ thuật bảo mật cơ bản cho một hệ thống IoT có khả năng điều khiển thiết bị vật lý — tức là rủi ro không chỉ là lộ dữ liệu mà còn có thể ảnh hưởng vật lý thật.</a:t>
            </a: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4</a:t>
            </a:fld>
            <a:endParaRPr lang="en-US"/>
          </a:p>
        </p:txBody>
      </p:sp>
    </p:spTree>
    <p:extLst>
      <p:ext uri="{BB962C8B-B14F-4D97-AF65-F5344CB8AC3E}">
        <p14:creationId xmlns:p14="http://schemas.microsoft.com/office/powerpoint/2010/main" val="481562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Về mục tiêu chính, nhóm thiết kế kiến trúc tổng quan cho hệ thống nhà thông minh, xây dựng ESP32 kết nối cảm biến và thiết bị chấp hành, backend bằng Node.js/Express lưu dữ liệu bằng MongoDB, dùng MQTT broker để trao đổi dữ liệu giữa backend và ESP32, và mobile app bằng React Native để người dùng tương tác. Toàn bộ hệ thống áp dụng các kỹ thuật bảo mật như JWT, refresh token, rate limit, MQTT TLS.</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Vì đây là demo cuối kỳ, phạm vi được giới hạn: một ESP32 đóng vai trò gateway trung tâm, với cảm biến DHT22, MQ135 đo khí, và một đèn một quạt điều khiển qua relay. Nhóm chưa làm nhiều thiết bị/nhiều phòng, đa vai trò người dùng, hay bảo mật phần cứng nâng cao — những phần này nằm trong hướng phát triển sau.</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5</a:t>
            </a:fld>
            <a:endParaRPr lang="en-US"/>
          </a:p>
        </p:txBody>
      </p:sp>
    </p:spTree>
    <p:extLst>
      <p:ext uri="{BB962C8B-B14F-4D97-AF65-F5344CB8AC3E}">
        <p14:creationId xmlns:p14="http://schemas.microsoft.com/office/powerpoint/2010/main" val="3175629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Về chức năng, hệ thống hỗ trợ người dùng đăng ký/đăng nhập với refresh token, giám sát môi trường — nhiệt độ, độ ẩm, PPM khí, cảnh báo cháy — và điều khiển đèn/quạt theo 3 chế độ: thủ công, hẹn giờ, tự động.</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Về phi chức năng, giao tiếp giữa backend và thiết bị cần độ trễ thấp, dữ liệu qua MQTT được mã hoá TLS, API được xác thực bằng JWT, và logic tự động có thứ tự ưu tiên rõ ràng để tránh xung đột giữa tay bấm, hẹn giờ và cảm biến.</a:t>
            </a:r>
            <a:endParaRPr lang="en-V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VN" sz="1200" b="0" kern="1200" dirty="0">
                <a:solidFill>
                  <a:schemeClr val="tx1"/>
                </a:solidFill>
                <a:effectLst/>
                <a:latin typeface="+mn-lt"/>
                <a:ea typeface="+mn-ea"/>
                <a:cs typeface="+mn-cs"/>
              </a:rPr>
              <a:t>→ Bây giờ em xin đi vào phần 1: kiến trúc tổng quan hệ thống.</a:t>
            </a: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1215081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Đây là sơ đồ kiến trúc tổng thể. Mobile app ở trên cùng, giao tiếp với Backend qua REST API. Backend đóng vai trò trung tâm: nó lưu dữ liệu vào MongoDB Atlas, đồng thời là MQTT client kết nối tới MQTT Broker để trao đổi với ESP32 — nơi gắn các cảm biến DHT22, MQ135, cảm biến ánh sáng, và điều khiển đèn/quạt qua relay.</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Điểm quan trọng nhất của kiến trúc này: </a:t>
            </a:r>
            <a:r>
              <a:rPr lang="en-VN" sz="1200" b="1" kern="1200" dirty="0">
                <a:solidFill>
                  <a:schemeClr val="tx1"/>
                </a:solidFill>
                <a:effectLst/>
                <a:latin typeface="+mn-lt"/>
                <a:ea typeface="+mn-ea"/>
                <a:cs typeface="+mn-cs"/>
              </a:rPr>
              <a:t>**Mobile app không giao tiếp trực tiếp với ESP32**</a:t>
            </a:r>
            <a:r>
              <a:rPr lang="en-VN" sz="1200" b="0" i="1" kern="1200" dirty="0">
                <a:solidFill>
                  <a:schemeClr val="tx1"/>
                </a:solidFill>
                <a:effectLst/>
                <a:latin typeface="+mn-lt"/>
                <a:ea typeface="+mn-ea"/>
                <a:cs typeface="+mn-cs"/>
              </a:rPr>
              <a:t> — mọi thao tác đều phải đi qua Backend. Điều này giúp kiểm soát quyền truy cập tập trung và toàn bộ logic nghiệp vụ, xác thực đều nằm ở một chỗ, dễ bảo mật và bảo trì hơn so với việc mobile app điều khiển trực tiếp thiết bị.</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8</a:t>
            </a:fld>
            <a:endParaRPr lang="en-US"/>
          </a:p>
        </p:txBody>
      </p:sp>
    </p:spTree>
    <p:extLst>
      <p:ext uri="{BB962C8B-B14F-4D97-AF65-F5344CB8AC3E}">
        <p14:creationId xmlns:p14="http://schemas.microsoft.com/office/powerpoint/2010/main" val="2585773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Về công nghệ cụ thể: thiết bị IoT dùng ESP32 với các cảm biến DHT22, MQ135, cảm biến ánh sáng và relay. MQTT Broker dùng EMQX Cloud với kết nối TLS. Backend server dùng Node.js, Express, Mongoose, MQTT.js, JWT, có tài liệu API bằng Swagger. Database là MongoDB Atlas. Và Mobile app viết bằng React Native với TypeScript.</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*(Chuyển ý)*</a:t>
            </a:r>
            <a:r>
              <a:rPr lang="en-VN" sz="1200" b="0" kern="1200" dirty="0">
                <a:solidFill>
                  <a:schemeClr val="tx1"/>
                </a:solidFill>
                <a:effectLst/>
                <a:latin typeface="+mn-lt"/>
                <a:ea typeface="+mn-ea"/>
                <a:cs typeface="+mn-cs"/>
              </a:rPr>
              <a:t> → Tiếp theo là phần 2: triển khai xây dựng hệ thống, đi vào các chức năng nghiệp vụ chính.</a:t>
            </a: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9</a:t>
            </a:fld>
            <a:endParaRPr lang="en-US"/>
          </a:p>
        </p:txBody>
      </p:sp>
    </p:spTree>
    <p:extLst>
      <p:ext uri="{BB962C8B-B14F-4D97-AF65-F5344CB8AC3E}">
        <p14:creationId xmlns:p14="http://schemas.microsoft.com/office/powerpoint/2010/main" val="2522993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Đèn có 3 chế độ: thủ công — app gửi lệnh, backend cập nhật database rồi publish MQTT xuống ESP32; hẹn giờ — backend quét định kỳ mỗi 5 giây để kiểm tra thời gian bật/tắt cấu hình; và theo cảm biến ánh sáng — lúc này ESP32 tự quyết định bật tắt dựa trên độ sáng môi trường. Nhóm có cơ chế `manualOverride` và `lastAutoReason` để tránh timer hoặc cảm biến vô tình bật/tắt lại đèn ngay sau khi người dùng vừa thao tác tay.</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Quạt cũng có cơ chế tương tự thủ công/hẹn giờ, nhưng có thêm chế độ auto cooling — tự bật khi nhiệt độ vượt ngưỡng và chất lượng không khí còn an toàn. Đặc biệt có lớp an toàn: nếu nồng độ khí PPM vượt quá 1100 — tức nguy hiểm cháy — backend sẽ </a:t>
            </a:r>
            <a:r>
              <a:rPr lang="en-VN" sz="1200" b="1" kern="1200" dirty="0">
                <a:solidFill>
                  <a:schemeClr val="tx1"/>
                </a:solidFill>
                <a:effectLst/>
                <a:latin typeface="+mn-lt"/>
                <a:ea typeface="+mn-ea"/>
                <a:cs typeface="+mn-cs"/>
              </a:rPr>
              <a:t>**ép buộc tắt quạt ngay lập tức**</a:t>
            </a:r>
            <a:r>
              <a:rPr lang="en-VN" sz="1200" b="0" i="1" kern="1200" dirty="0">
                <a:solidFill>
                  <a:schemeClr val="tx1"/>
                </a:solidFill>
                <a:effectLst/>
                <a:latin typeface="+mn-lt"/>
                <a:ea typeface="+mn-ea"/>
                <a:cs typeface="+mn-cs"/>
              </a:rPr>
              <a:t>, bất kể quạt đang bật vì lý do gì, để tránh quạt thổi gió làm lửa lan nhanh hơn.</a:t>
            </a: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11</a:t>
            </a:fld>
            <a:endParaRPr lang="en-US"/>
          </a:p>
        </p:txBody>
      </p:sp>
    </p:spTree>
    <p:extLst>
      <p:ext uri="{BB962C8B-B14F-4D97-AF65-F5344CB8AC3E}">
        <p14:creationId xmlns:p14="http://schemas.microsoft.com/office/powerpoint/2010/main" val="2006600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Vì có nhiều nguồn cùng điều khiển thiết bị — tay bấm, hẹn giờ, cảm biến — nhóm thiết kế thứ tự ưu tiên rõ ràng, giảm dần: cao nhất là cảnh báo khí gas nguy hiểm, sau đó đến timer/thao tác thủ công, thấp nhất là auto cooling theo nhiệt độ.</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Cơ chế `lastAutoReason` đảm bảo timer chỉ tự tắt thiết bị nếu chính timer là nguồn bật trước đó, tránh việc tắt nhầm thiết bị người dùng vừa mới bật tay. Và `manualOverride` ngăn timer bật lại thiết bị mà người dùng vừa tắt thủ công.</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Về ngưỡng cảnh báo không khí: dưới 900 PPM là an toàn, từ 900 đến 1100 là cảnh báo, và trên 1100 là mức nguy hiểm, kích hoạt báo cháy.</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12</a:t>
            </a:fld>
            <a:endParaRPr lang="en-US"/>
          </a:p>
        </p:txBody>
      </p:sp>
    </p:spTree>
    <p:extLst>
      <p:ext uri="{BB962C8B-B14F-4D97-AF65-F5344CB8AC3E}">
        <p14:creationId xmlns:p14="http://schemas.microsoft.com/office/powerpoint/2010/main" val="607453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Đây là một số màn hình chính của mobile app: màn hình đăng nhập/đăng ký, dashboard hiển thị chỉ số môi trường và danh sách thiết bị, và màn hình cấu hình hẹn giờ/tự động theo nhiệt độ cho từng thiết bị.</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*(Chuyển ý)*</a:t>
            </a:r>
            <a:r>
              <a:rPr lang="en-VN" sz="1200" b="0" kern="1200" dirty="0">
                <a:solidFill>
                  <a:schemeClr val="tx1"/>
                </a:solidFill>
                <a:effectLst/>
                <a:latin typeface="+mn-lt"/>
                <a:ea typeface="+mn-ea"/>
                <a:cs typeface="+mn-cs"/>
              </a:rPr>
              <a:t> → Phần cuối cùng, cũng là trọng tâm của đề tài: bảo mật hệ thống IoT.</a:t>
            </a: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13</a:t>
            </a:fld>
            <a:endParaRPr lang="en-US"/>
          </a:p>
        </p:txBody>
      </p:sp>
    </p:spTree>
    <p:extLst>
      <p:ext uri="{BB962C8B-B14F-4D97-AF65-F5344CB8AC3E}">
        <p14:creationId xmlns:p14="http://schemas.microsoft.com/office/powerpoint/2010/main" val="3809674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1200" b="0" i="1" kern="1200" dirty="0">
                <a:solidFill>
                  <a:schemeClr val="tx1"/>
                </a:solidFill>
                <a:effectLst/>
                <a:latin typeface="+mn-lt"/>
                <a:ea typeface="+mn-ea"/>
                <a:cs typeface="+mn-cs"/>
              </a:rPr>
              <a:t>&gt; Nhóm xác định các rủi ro chính và biện pháp tương ứng: gọi API trái phép được chặn bằng JWT access token; brute-force đăng nhập được chặn bằng rate limit; lộ mật khẩu trong database được giảm thiểu bằng hash scrypt kèm salt; access token bị đánh cắp thì có thời hạn ngắn kèm refresh token; NoSQL injection được chặn bằng validate input nghiêm ngặt; nghe lén MQTT được chặn bằng TLS; và logic tự động nguy hiểm — như quạt chạy khi có gas — được xử lý bằng cơ chế ưu tiên an toàn đã nói ở phần trước.</a:t>
            </a: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15</a:t>
            </a:fld>
            <a:endParaRPr lang="en-US"/>
          </a:p>
        </p:txBody>
      </p:sp>
    </p:spTree>
    <p:extLst>
      <p:ext uri="{BB962C8B-B14F-4D97-AF65-F5344CB8AC3E}">
        <p14:creationId xmlns:p14="http://schemas.microsoft.com/office/powerpoint/2010/main" val="17988619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Về xác thực và API: mọi API nghiệp vụ đều yêu cầu JWT access token qua middleware xác thực đặt trước toàn bộ route. Refresh token được lưu dạng hash trong database và rotate sau mỗi lần dùng. Có rate limit cho đăng nhập/đăng ký theo cả IP và username.</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Về chống injection và cấu hình: mật khẩu hash bằng scrypt kèm salt; input được validate nghiêm ngặt để chặn payload NoSQL injection kiểu dùng toán tử Mongo; các thông tin nhạy cảm như connection string, JWT secret, MQTT credential đều đưa vào biến môi trường, không hardcode trong code, và có gitignore riêng cho từng project.</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Về kênh MQTT: kết nối qua `mqtts://` tức MQTT over TLS để mã hoá dữ liệu; backend và ESP32 dùng hai bộ username/password riêng biệt, không dùng chung một credential; và không dùng wildcard cho ESP32, giới hạn theo nhóm topic cụ thể để giảm thiệt hại nếu credential bị lộ.</a:t>
            </a: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16</a:t>
            </a:fld>
            <a:endParaRPr lang="en-US"/>
          </a:p>
        </p:txBody>
      </p:sp>
    </p:spTree>
    <p:extLst>
      <p:ext uri="{BB962C8B-B14F-4D97-AF65-F5344CB8AC3E}">
        <p14:creationId xmlns:p14="http://schemas.microsoft.com/office/powerpoint/2010/main" val="844622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Nhóm đã hoàn thành: kiến trúc tổng quan hệ thống IoT smart home, backend Node.js/Express hoàn chỉnh, mobile app bằng React Native, kết nối MQTT broker cloud có TLS, ESP32 gửi dữ liệu và nhận lệnh điều khiển, điều khiển đèn/quạt đủ 3 chế độ, cảnh báo cháy theo ngưỡng PPM, và đầy đủ các cơ chế bảo mật JWT, refresh token, rate limit, validate input, cùng MQTT ACL với 2 credential riêng biệt.</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17</a:t>
            </a:fld>
            <a:endParaRPr lang="en-US"/>
          </a:p>
        </p:txBody>
      </p:sp>
    </p:spTree>
    <p:extLst>
      <p:ext uri="{BB962C8B-B14F-4D97-AF65-F5344CB8AC3E}">
        <p14:creationId xmlns:p14="http://schemas.microsoft.com/office/powerpoint/2010/main" val="2647839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Về hạn chế: hiện một ESP32 điều khiển toàn bộ thiết bị nên số lượng thiết bị còn ít, chưa có web dashboard riêng cho admin, chưa phân quyền người dùng theo vai trò.</a:t>
            </a:r>
            <a:endParaRPr lang="en-VN" sz="1200" b="0" kern="1200" dirty="0">
              <a:solidFill>
                <a:schemeClr val="tx1"/>
              </a:solidFill>
              <a:effectLst/>
              <a:latin typeface="+mn-lt"/>
              <a:ea typeface="+mn-ea"/>
              <a:cs typeface="+mn-cs"/>
            </a:endParaRPr>
          </a:p>
          <a:p>
            <a:r>
              <a:rPr lang="en-VN" sz="1200" b="0" i="1" kern="1200" dirty="0">
                <a:solidFill>
                  <a:schemeClr val="tx1"/>
                </a:solidFill>
                <a:effectLst/>
                <a:latin typeface="+mn-lt"/>
                <a:ea typeface="+mn-ea"/>
                <a:cs typeface="+mn-cs"/>
              </a:rPr>
              <a:t>&gt; Hướng phát triển tiếp theo: mở rộng nhiều phòng nhiều ESP32 với chuẩn hoá topic theo device ID, xây web dashboard quản trị kèm push notification khi có cảnh báo cháy, và thêm phân quyền người dùng cùng audit log.</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18</a:t>
            </a:fld>
            <a:endParaRPr lang="en-US"/>
          </a:p>
        </p:txBody>
      </p:sp>
    </p:spTree>
    <p:extLst>
      <p:ext uri="{BB962C8B-B14F-4D97-AF65-F5344CB8AC3E}">
        <p14:creationId xmlns:p14="http://schemas.microsoft.com/office/powerpoint/2010/main" val="4026706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sz="1200" b="0" i="1" kern="1200" dirty="0">
                <a:solidFill>
                  <a:schemeClr val="tx1"/>
                </a:solidFill>
                <a:effectLst/>
                <a:latin typeface="+mn-lt"/>
                <a:ea typeface="+mn-ea"/>
                <a:cs typeface="+mn-cs"/>
              </a:rPr>
              <a:t>&gt; Tóm lại, nhóm đã xây dựng hoàn chỉnh một hệ thống nhà thông minh IoT gồm đầy đủ thiết bị, MQTT broker, backend, database và mobile app. Kiến trúc backend-trung tâm giúp tách biệt rõ ràng giữa app và thiết bị, tập trung xác thực và xử lý nghiệp vụ ở một nơi duy nhất. Nhóm đã áp dụng các kỹ thuật bảo mật cơ bản như JWT, refresh token, rate limit, validate input, hash password và MQTT over TLS — đáp ứng đầy đủ 3 yêu cầu chính của đề tài: kiến trúc, triển khai và bảo mật hệ thống IoT.</a:t>
            </a:r>
            <a:endParaRPr lang="en-VN" sz="1200" b="0" kern="1200" dirty="0">
              <a:solidFill>
                <a:schemeClr val="tx1"/>
              </a:solidFill>
              <a:effectLst/>
              <a:latin typeface="+mn-lt"/>
              <a:ea typeface="+mn-ea"/>
              <a:cs typeface="+mn-cs"/>
            </a:endParaRPr>
          </a:p>
          <a:p>
            <a:br>
              <a:rPr lang="en-VN" sz="1200" b="0" kern="1200" dirty="0">
                <a:solidFill>
                  <a:schemeClr val="tx1"/>
                </a:solidFill>
                <a:effectLst/>
                <a:latin typeface="+mn-lt"/>
                <a:ea typeface="+mn-ea"/>
                <a:cs typeface="+mn-cs"/>
              </a:rPr>
            </a:br>
            <a:endParaRPr lang="en-VN" sz="1200" b="0" kern="1200" dirty="0">
              <a:solidFill>
                <a:schemeClr val="tx1"/>
              </a:solidFill>
              <a:effectLst/>
              <a:latin typeface="+mn-lt"/>
              <a:ea typeface="+mn-ea"/>
              <a:cs typeface="+mn-cs"/>
            </a:endParaRPr>
          </a:p>
          <a:p>
            <a:endParaRPr lang="en-VN" dirty="0"/>
          </a:p>
        </p:txBody>
      </p:sp>
      <p:sp>
        <p:nvSpPr>
          <p:cNvPr id="4" name="Slide Number Placeholder 3"/>
          <p:cNvSpPr>
            <a:spLocks noGrp="1"/>
          </p:cNvSpPr>
          <p:nvPr>
            <p:ph type="sldNum" sz="quarter" idx="5"/>
          </p:nvPr>
        </p:nvSpPr>
        <p:spPr/>
        <p:txBody>
          <a:bodyPr/>
          <a:lstStyle/>
          <a:p>
            <a:fld id="{AB2FC7A4-3D1B-482D-8C9D-7642A2CE3076}" type="slidenum">
              <a:rPr lang="en-US" smtClean="0"/>
              <a:t>19</a:t>
            </a:fld>
            <a:endParaRPr lang="en-US"/>
          </a:p>
        </p:txBody>
      </p:sp>
    </p:spTree>
    <p:extLst>
      <p:ext uri="{BB962C8B-B14F-4D97-AF65-F5344CB8AC3E}">
        <p14:creationId xmlns:p14="http://schemas.microsoft.com/office/powerpoint/2010/main" val="15620048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7/20/26</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7/20/26</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7/20/26</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7/20/26</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7/20/26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7/20/26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7/20/26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7/20/26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7/20/26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7/20/26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7/20/26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5000"/>
              </a:lnSpc>
            </a:pPr>
            <a:r>
              <a:rPr sz="3200" b="1">
                <a:solidFill>
                  <a:srgbClr val="FFFFFF"/>
                </a:solidFill>
                <a:latin typeface="Lato"/>
              </a:rPr>
              <a:t>BẢO MẬT HỆ THỐNG IOT:</a:t>
            </a:r>
          </a:p>
          <a:p>
            <a:pPr>
              <a:lnSpc>
                <a:spcPct val="105000"/>
              </a:lnSpc>
            </a:pPr>
            <a:r>
              <a:rPr sz="3200" b="1">
                <a:solidFill>
                  <a:srgbClr val="FFFFFF"/>
                </a:solidFill>
                <a:latin typeface="Lato"/>
              </a:rPr>
              <a:t>CASE STUDY NHÀ THÔNG MINH</a:t>
            </a:r>
          </a:p>
        </p:txBody>
      </p:sp>
      <p:sp>
        <p:nvSpPr>
          <p:cNvPr id="3" name="TextBox 2"/>
          <p:cNvSpPr txBox="1"/>
          <p:nvPr/>
        </p:nvSpPr>
        <p:spPr>
          <a:xfrm>
            <a:off x="640000" y="5620000"/>
            <a:ext cx="10900000" cy="400000"/>
          </a:xfrm>
          <a:prstGeom prst="rect">
            <a:avLst/>
          </a:prstGeom>
          <a:noFill/>
        </p:spPr>
        <p:txBody>
          <a:bodyPr wrap="square" anchor="t">
            <a:spAutoFit/>
          </a:bodyPr>
          <a:lstStyle/>
          <a:p>
            <a:pPr algn="ctr">
              <a:lnSpc>
                <a:spcPct val="100000"/>
              </a:lnSpc>
              <a:buNone/>
            </a:pPr>
            <a:r>
              <a:rPr sz="1500" b="1" i="0">
                <a:solidFill>
                  <a:srgbClr val="C02034"/>
                </a:solidFill>
                <a:latin typeface="Lato"/>
              </a:rPr>
              <a:t>Báo cáo bài tập lớn - Kiến trúc và Bảo mật trong hệ thống IoT (IT6015)</a:t>
            </a:r>
          </a:p>
        </p:txBody>
      </p:sp>
      <p:sp>
        <p:nvSpPr>
          <p:cNvPr id="4" name="TextBox 3"/>
          <p:cNvSpPr txBox="1"/>
          <p:nvPr/>
        </p:nvSpPr>
        <p:spPr>
          <a:xfrm>
            <a:off x="640000" y="6040000"/>
            <a:ext cx="10900000" cy="320000"/>
          </a:xfrm>
          <a:prstGeom prst="rect">
            <a:avLst/>
          </a:prstGeom>
          <a:noFill/>
        </p:spPr>
        <p:txBody>
          <a:bodyPr wrap="square" anchor="t">
            <a:spAutoFit/>
          </a:bodyPr>
          <a:lstStyle/>
          <a:p>
            <a:pPr algn="ctr">
              <a:lnSpc>
                <a:spcPct val="100000"/>
              </a:lnSpc>
              <a:buNone/>
            </a:pPr>
            <a:r>
              <a:rPr sz="1300" b="0" i="0">
                <a:solidFill>
                  <a:srgbClr val="FFFFFF"/>
                </a:solidFill>
                <a:latin typeface="Lato"/>
              </a:rPr>
              <a:t>GVHD: TS. Phạm Ngọc Hưng  •  TS. Trịnh Văn Chiến  •  PGS. Trần Quang Đức</a:t>
            </a:r>
          </a:p>
        </p:txBody>
      </p:sp>
      <p:sp>
        <p:nvSpPr>
          <p:cNvPr id="5" name="TextBox 4"/>
          <p:cNvSpPr txBox="1"/>
          <p:nvPr/>
        </p:nvSpPr>
        <p:spPr>
          <a:xfrm>
            <a:off x="640000" y="6350000"/>
            <a:ext cx="10900000" cy="320000"/>
          </a:xfrm>
          <a:prstGeom prst="rect">
            <a:avLst/>
          </a:prstGeom>
          <a:noFill/>
        </p:spPr>
        <p:txBody>
          <a:bodyPr wrap="square" anchor="t">
            <a:spAutoFit/>
          </a:bodyPr>
          <a:lstStyle/>
          <a:p>
            <a:pPr algn="ctr">
              <a:lnSpc>
                <a:spcPct val="100000"/>
              </a:lnSpc>
              <a:buNone/>
            </a:pPr>
            <a:r>
              <a:rPr sz="1200" b="0" i="0">
                <a:solidFill>
                  <a:srgbClr val="FFFFFF"/>
                </a:solidFill>
                <a:latin typeface="Lato"/>
              </a:rPr>
              <a:t>Thành viên: Trần Hoàng Sơn • Hà Quang Thắng • Trần Mạnh Đạt • Đặng Minh Ánh  |  Hà Nội,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Nội dung trình bày</a:t>
            </a:r>
          </a:p>
        </p:txBody>
      </p:sp>
      <p:sp>
        <p:nvSpPr>
          <p:cNvPr id="3" name="TextBox 2"/>
          <p:cNvSpPr txBox="1"/>
          <p:nvPr/>
        </p:nvSpPr>
        <p:spPr>
          <a:xfrm>
            <a:off x="638736" y="1358844"/>
            <a:ext cx="10914528" cy="3600000"/>
          </a:xfrm>
          <a:prstGeom prst="rect">
            <a:avLst/>
          </a:prstGeom>
          <a:noFill/>
        </p:spPr>
        <p:txBody>
          <a:bodyPr wrap="square" anchor="t">
            <a:spAutoFit/>
          </a:bodyPr>
          <a:lstStyle/>
          <a:p>
            <a:pPr marL="250000" indent="-250000" algn="l">
              <a:lnSpc>
                <a:spcPct val="108000"/>
              </a:lnSpc>
              <a:spcAft>
                <a:spcPts val="1000"/>
              </a:spcAft>
              <a:buFont typeface="Arial"/>
              <a:buChar char="■"/>
            </a:pPr>
            <a:r>
              <a:rPr sz="2000" b="1">
                <a:solidFill>
                  <a:srgbClr val="003366"/>
                </a:solidFill>
                <a:latin typeface="Lato"/>
              </a:rPr>
              <a:t>1. Giới thiệu &amp; yêu cầu hệ thống</a:t>
            </a:r>
          </a:p>
          <a:p>
            <a:pPr marL="250000" indent="-250000" algn="l">
              <a:lnSpc>
                <a:spcPct val="108000"/>
              </a:lnSpc>
              <a:spcAft>
                <a:spcPts val="1000"/>
              </a:spcAft>
              <a:buFont typeface="Arial"/>
              <a:buChar char="■"/>
            </a:pPr>
            <a:r>
              <a:rPr sz="2000" b="1">
                <a:solidFill>
                  <a:srgbClr val="003366"/>
                </a:solidFill>
                <a:latin typeface="Lato"/>
              </a:rPr>
              <a:t>2. Phần 1 - Kiến trúc tổng quan hệ thống IoT</a:t>
            </a:r>
          </a:p>
          <a:p>
            <a:pPr marL="250000" indent="-250000" algn="l">
              <a:lnSpc>
                <a:spcPct val="108000"/>
              </a:lnSpc>
              <a:spcAft>
                <a:spcPts val="1000"/>
              </a:spcAft>
              <a:buFont typeface="Arial"/>
              <a:buChar char="■"/>
            </a:pPr>
            <a:r>
              <a:rPr sz="2000" b="1">
                <a:solidFill>
                  <a:srgbClr val="003366"/>
                </a:solidFill>
                <a:latin typeface="Lato"/>
              </a:rPr>
              <a:t>3. Phần 2 - Triển khai xây dựng hệ thống</a:t>
            </a:r>
          </a:p>
          <a:p>
            <a:pPr marL="250000" indent="-250000" algn="l">
              <a:lnSpc>
                <a:spcPct val="108000"/>
              </a:lnSpc>
              <a:spcAft>
                <a:spcPts val="1000"/>
              </a:spcAft>
              <a:buFont typeface="Arial"/>
              <a:buChar char="■"/>
            </a:pPr>
            <a:r>
              <a:rPr sz="2000" b="1">
                <a:solidFill>
                  <a:srgbClr val="003366"/>
                </a:solidFill>
                <a:latin typeface="Lato"/>
              </a:rPr>
              <a:t>4. Phần 3 - Bảo mật hệ thống IoT</a:t>
            </a:r>
          </a:p>
          <a:p>
            <a:pPr marL="250000" indent="-250000" algn="l">
              <a:lnSpc>
                <a:spcPct val="108000"/>
              </a:lnSpc>
              <a:spcAft>
                <a:spcPts val="1000"/>
              </a:spcAft>
              <a:buFont typeface="Arial"/>
              <a:buChar char="■"/>
            </a:pPr>
            <a:r>
              <a:rPr sz="2000" b="1">
                <a:solidFill>
                  <a:srgbClr val="003366"/>
                </a:solidFill>
                <a:latin typeface="Lato"/>
              </a:rPr>
              <a:t>5. Kết quả, hạn chế &amp; kết luận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Giới thiệu đề tài</a:t>
            </a:r>
          </a:p>
        </p:txBody>
      </p:sp>
      <p:sp>
        <p:nvSpPr>
          <p:cNvPr id="3" name="TextBox 2"/>
          <p:cNvSpPr txBox="1"/>
          <p:nvPr/>
        </p:nvSpPr>
        <p:spPr>
          <a:xfrm>
            <a:off x="438736" y="1208844"/>
            <a:ext cx="11314528" cy="4909124"/>
          </a:xfrm>
          <a:prstGeom prst="rect">
            <a:avLst/>
          </a:prstGeom>
          <a:noFill/>
        </p:spPr>
        <p:txBody>
          <a:bodyPr wrap="square" anchor="t">
            <a:spAutoFit/>
          </a:bodyPr>
          <a:lstStyle/>
          <a:p>
            <a:pPr marL="250000" indent="-250000" algn="l">
              <a:lnSpc>
                <a:spcPct val="108000"/>
              </a:lnSpc>
              <a:spcAft>
                <a:spcPts val="1000"/>
              </a:spcAft>
              <a:buFont typeface="Arial"/>
              <a:buChar char="■"/>
            </a:pPr>
            <a:r>
              <a:rPr sz="1800" b="1">
                <a:solidFill>
                  <a:srgbClr val="003366"/>
                </a:solidFill>
                <a:latin typeface="Lato"/>
              </a:rPr>
              <a:t>Nhà thông minh là bài toán phù hợp để thể hiện đầy đủ các thành phần cơ bản của một hệ thống IoT</a:t>
            </a:r>
          </a:p>
          <a:p>
            <a:pPr marL="620000" indent="-220000" algn="l">
              <a:lnSpc>
                <a:spcPct val="108000"/>
              </a:lnSpc>
              <a:spcAft>
                <a:spcPts val="600"/>
              </a:spcAft>
              <a:buFont typeface="Arial"/>
              <a:buChar char="–"/>
            </a:pPr>
            <a:r>
              <a:rPr sz="1600" b="0">
                <a:solidFill>
                  <a:srgbClr val="222222"/>
                </a:solidFill>
                <a:latin typeface="Lato"/>
              </a:rPr>
              <a:t>Thiết bị phần cứng thu thập dữ liệu môi trường (ESP32 + cảm biến)</a:t>
            </a:r>
          </a:p>
          <a:p>
            <a:pPr marL="620000" indent="-220000" algn="l">
              <a:lnSpc>
                <a:spcPct val="108000"/>
              </a:lnSpc>
              <a:spcAft>
                <a:spcPts val="600"/>
              </a:spcAft>
              <a:buFont typeface="Arial"/>
              <a:buChar char="–"/>
            </a:pPr>
            <a:r>
              <a:rPr sz="1600" b="0">
                <a:solidFill>
                  <a:srgbClr val="222222"/>
                </a:solidFill>
                <a:latin typeface="Lato"/>
              </a:rPr>
              <a:t>Backend xử lý nghiệp vụ, database lưu trữ dữ liệu, mobile app để theo dõi &amp; điều khiển</a:t>
            </a:r>
          </a:p>
          <a:p>
            <a:pPr marL="250000" indent="-250000" algn="l">
              <a:lnSpc>
                <a:spcPct val="108000"/>
              </a:lnSpc>
              <a:spcAft>
                <a:spcPts val="1000"/>
              </a:spcAft>
              <a:buFont typeface="Arial"/>
              <a:buChar char="■"/>
            </a:pPr>
            <a:r>
              <a:rPr sz="1800" b="1">
                <a:solidFill>
                  <a:srgbClr val="003366"/>
                </a:solidFill>
                <a:latin typeface="Lato"/>
              </a:rPr>
              <a:t>Mục tiêu: xây dựng hệ thống hoàn chỉnh ở mức demo, hoạt động với phần cứng thật và ứng dụng mobile</a:t>
            </a:r>
          </a:p>
          <a:p>
            <a:pPr marL="250000" indent="-250000" algn="l">
              <a:lnSpc>
                <a:spcPct val="108000"/>
              </a:lnSpc>
              <a:spcAft>
                <a:spcPts val="1000"/>
              </a:spcAft>
              <a:buFont typeface="Arial"/>
              <a:buChar char="■"/>
            </a:pPr>
            <a:r>
              <a:rPr sz="1800" b="1">
                <a:solidFill>
                  <a:srgbClr val="003366"/>
                </a:solidFill>
                <a:latin typeface="Lato"/>
              </a:rPr>
              <a:t>Ý nghĩa: nghiên cứu và áp dụng các kỹ thuật bảo mật cơ bản cho hệ thống IoT có khả năng điều khiển thiết bị vật lý</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Mục tiêu &amp; Phạm vi đề tài</a:t>
            </a:r>
          </a:p>
        </p:txBody>
      </p:sp>
      <p:sp>
        <p:nvSpPr>
          <p:cNvPr id="3" name="Rounded Rectangle 2"/>
          <p:cNvSpPr/>
          <p:nvPr/>
        </p:nvSpPr>
        <p:spPr>
          <a:xfrm>
            <a:off x="338736" y="1118844"/>
            <a:ext cx="5557264" cy="500000"/>
          </a:xfrm>
          <a:prstGeom prst="round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736" y="1118844"/>
            <a:ext cx="5357264" cy="500000"/>
          </a:xfrm>
          <a:prstGeom prst="rect">
            <a:avLst/>
          </a:prstGeom>
          <a:noFill/>
        </p:spPr>
        <p:txBody>
          <a:bodyPr wrap="square" anchor="ctr">
            <a:spAutoFit/>
          </a:bodyPr>
          <a:lstStyle/>
          <a:p>
            <a:pPr algn="l">
              <a:lnSpc>
                <a:spcPct val="100000"/>
              </a:lnSpc>
              <a:buNone/>
            </a:pPr>
            <a:r>
              <a:rPr sz="1700" b="1" i="0">
                <a:solidFill>
                  <a:srgbClr val="FFFFFF"/>
                </a:solidFill>
                <a:latin typeface="Lato"/>
              </a:rPr>
              <a:t>Mục tiêu chính</a:t>
            </a:r>
          </a:p>
        </p:txBody>
      </p:sp>
      <p:sp>
        <p:nvSpPr>
          <p:cNvPr id="5" name="TextBox 4"/>
          <p:cNvSpPr txBox="1"/>
          <p:nvPr/>
        </p:nvSpPr>
        <p:spPr>
          <a:xfrm>
            <a:off x="338736" y="1758844"/>
            <a:ext cx="5557264" cy="4209124"/>
          </a:xfrm>
          <a:prstGeom prst="rect">
            <a:avLst/>
          </a:prstGeom>
          <a:noFill/>
        </p:spPr>
        <p:txBody>
          <a:bodyPr wrap="square" anchor="t">
            <a:spAutoFit/>
          </a:bodyPr>
          <a:lstStyle/>
          <a:p>
            <a:pPr marL="250000" indent="-250000" algn="l">
              <a:lnSpc>
                <a:spcPct val="108000"/>
              </a:lnSpc>
              <a:spcAft>
                <a:spcPts val="1000"/>
              </a:spcAft>
              <a:buFont typeface="Arial"/>
              <a:buChar char="■"/>
            </a:pPr>
            <a:r>
              <a:rPr sz="1500" b="1">
                <a:solidFill>
                  <a:srgbClr val="003366"/>
                </a:solidFill>
                <a:latin typeface="Lato"/>
              </a:rPr>
              <a:t>Thiết kế kiến trúc tổng quan hệ thống nhà thông minh</a:t>
            </a:r>
          </a:p>
          <a:p>
            <a:pPr marL="250000" indent="-250000" algn="l">
              <a:lnSpc>
                <a:spcPct val="108000"/>
              </a:lnSpc>
              <a:spcAft>
                <a:spcPts val="1000"/>
              </a:spcAft>
              <a:buFont typeface="Arial"/>
              <a:buChar char="■"/>
            </a:pPr>
            <a:r>
              <a:rPr sz="1500" b="1">
                <a:solidFill>
                  <a:srgbClr val="003366"/>
                </a:solidFill>
                <a:latin typeface="Lato"/>
              </a:rPr>
              <a:t>Xây dựng ESP32 kết nối cảm biến &amp; thiết bị chấp hành</a:t>
            </a:r>
          </a:p>
          <a:p>
            <a:pPr marL="250000" indent="-250000" algn="l">
              <a:lnSpc>
                <a:spcPct val="108000"/>
              </a:lnSpc>
              <a:spcAft>
                <a:spcPts val="1000"/>
              </a:spcAft>
              <a:buFont typeface="Arial"/>
              <a:buChar char="■"/>
            </a:pPr>
            <a:r>
              <a:rPr sz="1500" b="1">
                <a:solidFill>
                  <a:srgbClr val="003366"/>
                </a:solidFill>
                <a:latin typeface="Lato"/>
              </a:rPr>
              <a:t>Backend Node.js/Express, lưu dữ liệu bằng MongoDB</a:t>
            </a:r>
          </a:p>
          <a:p>
            <a:pPr marL="250000" indent="-250000" algn="l">
              <a:lnSpc>
                <a:spcPct val="108000"/>
              </a:lnSpc>
              <a:spcAft>
                <a:spcPts val="1000"/>
              </a:spcAft>
              <a:buFont typeface="Arial"/>
              <a:buChar char="■"/>
            </a:pPr>
            <a:r>
              <a:rPr sz="1500" b="1">
                <a:solidFill>
                  <a:srgbClr val="003366"/>
                </a:solidFill>
                <a:latin typeface="Lato"/>
              </a:rPr>
              <a:t>MQTT broker trao đổi dữ liệu backend ↔ ESP32</a:t>
            </a:r>
          </a:p>
          <a:p>
            <a:pPr marL="250000" indent="-250000" algn="l">
              <a:lnSpc>
                <a:spcPct val="108000"/>
              </a:lnSpc>
              <a:spcAft>
                <a:spcPts val="1000"/>
              </a:spcAft>
              <a:buFont typeface="Arial"/>
              <a:buChar char="■"/>
            </a:pPr>
            <a:r>
              <a:rPr sz="1500" b="1">
                <a:solidFill>
                  <a:srgbClr val="003366"/>
                </a:solidFill>
                <a:latin typeface="Lato"/>
              </a:rPr>
              <a:t>Mobile app React Native để tương tác với hệ thống</a:t>
            </a:r>
          </a:p>
          <a:p>
            <a:pPr marL="250000" indent="-250000" algn="l">
              <a:lnSpc>
                <a:spcPct val="108000"/>
              </a:lnSpc>
              <a:spcAft>
                <a:spcPts val="1000"/>
              </a:spcAft>
              <a:buFont typeface="Arial"/>
              <a:buChar char="■"/>
            </a:pPr>
            <a:r>
              <a:rPr sz="1500" b="1">
                <a:solidFill>
                  <a:srgbClr val="003366"/>
                </a:solidFill>
                <a:latin typeface="Lato"/>
              </a:rPr>
              <a:t>Áp dụng JWT, refresh token, rate limit, MQTT TLS...</a:t>
            </a:r>
          </a:p>
        </p:txBody>
      </p:sp>
      <p:sp>
        <p:nvSpPr>
          <p:cNvPr id="6" name="Rounded Rectangle 5"/>
          <p:cNvSpPr/>
          <p:nvPr/>
        </p:nvSpPr>
        <p:spPr>
          <a:xfrm>
            <a:off x="6296000" y="1118844"/>
            <a:ext cx="5557264" cy="500000"/>
          </a:xfrm>
          <a:prstGeom prst="round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96000" y="1118844"/>
            <a:ext cx="5357264" cy="500000"/>
          </a:xfrm>
          <a:prstGeom prst="rect">
            <a:avLst/>
          </a:prstGeom>
          <a:noFill/>
        </p:spPr>
        <p:txBody>
          <a:bodyPr wrap="square" anchor="ctr">
            <a:spAutoFit/>
          </a:bodyPr>
          <a:lstStyle/>
          <a:p>
            <a:pPr algn="l">
              <a:lnSpc>
                <a:spcPct val="100000"/>
              </a:lnSpc>
              <a:buNone/>
            </a:pPr>
            <a:r>
              <a:rPr sz="1700" b="1" i="0">
                <a:solidFill>
                  <a:srgbClr val="FFFFFF"/>
                </a:solidFill>
                <a:latin typeface="Lato"/>
              </a:rPr>
              <a:t>Phạm vi demo cuối kỳ</a:t>
            </a:r>
          </a:p>
        </p:txBody>
      </p:sp>
      <p:sp>
        <p:nvSpPr>
          <p:cNvPr id="8" name="TextBox 7"/>
          <p:cNvSpPr txBox="1"/>
          <p:nvPr/>
        </p:nvSpPr>
        <p:spPr>
          <a:xfrm>
            <a:off x="6296000" y="1758844"/>
            <a:ext cx="5557264" cy="4209124"/>
          </a:xfrm>
          <a:prstGeom prst="rect">
            <a:avLst/>
          </a:prstGeom>
          <a:noFill/>
        </p:spPr>
        <p:txBody>
          <a:bodyPr wrap="square" anchor="t">
            <a:spAutoFit/>
          </a:bodyPr>
          <a:lstStyle/>
          <a:p>
            <a:pPr marL="250000" indent="-250000" algn="l">
              <a:lnSpc>
                <a:spcPct val="108000"/>
              </a:lnSpc>
              <a:spcAft>
                <a:spcPts val="1000"/>
              </a:spcAft>
              <a:buFont typeface="Arial"/>
              <a:buChar char="■"/>
            </a:pPr>
            <a:r>
              <a:rPr sz="1500" b="1">
                <a:solidFill>
                  <a:srgbClr val="003366"/>
                </a:solidFill>
                <a:latin typeface="Lato"/>
              </a:rPr>
              <a:t>Một ESP32 đóng vai trò gateway &amp; bộ điều khiển trung tâm</a:t>
            </a:r>
          </a:p>
          <a:p>
            <a:pPr marL="250000" indent="-250000" algn="l">
              <a:lnSpc>
                <a:spcPct val="108000"/>
              </a:lnSpc>
              <a:spcAft>
                <a:spcPts val="1000"/>
              </a:spcAft>
              <a:buFont typeface="Arial"/>
              <a:buChar char="■"/>
            </a:pPr>
            <a:r>
              <a:rPr sz="1500" b="1">
                <a:solidFill>
                  <a:srgbClr val="003366"/>
                </a:solidFill>
                <a:latin typeface="Lato"/>
              </a:rPr>
              <a:t>Cảm biến DHT22 (nhiệt độ/độ ẩm), MQ135 (khí PPM), ánh sáng</a:t>
            </a:r>
          </a:p>
          <a:p>
            <a:pPr marL="250000" indent="-250000" algn="l">
              <a:lnSpc>
                <a:spcPct val="108000"/>
              </a:lnSpc>
              <a:spcAft>
                <a:spcPts val="1000"/>
              </a:spcAft>
              <a:buFont typeface="Arial"/>
              <a:buChar char="■"/>
            </a:pPr>
            <a:r>
              <a:rPr sz="1500" b="1">
                <a:solidFill>
                  <a:srgbClr val="003366"/>
                </a:solidFill>
                <a:latin typeface="Lato"/>
              </a:rPr>
              <a:t>Một đèn, một quạt điều khiển qua relay</a:t>
            </a:r>
          </a:p>
          <a:p>
            <a:pPr marL="250000" indent="-250000" algn="l">
              <a:lnSpc>
                <a:spcPct val="108000"/>
              </a:lnSpc>
              <a:spcAft>
                <a:spcPts val="1000"/>
              </a:spcAft>
              <a:buFont typeface="Arial"/>
              <a:buChar char="■"/>
            </a:pPr>
            <a:r>
              <a:rPr sz="1500" b="1">
                <a:solidFill>
                  <a:srgbClr val="003366"/>
                </a:solidFill>
                <a:latin typeface="Lato"/>
              </a:rPr>
              <a:t>MQTT broker cloud (EMQX) + MongoDB Atlas</a:t>
            </a:r>
          </a:p>
          <a:p>
            <a:pPr marL="250000" indent="-250000" algn="l">
              <a:lnSpc>
                <a:spcPct val="108000"/>
              </a:lnSpc>
              <a:spcAft>
                <a:spcPts val="1000"/>
              </a:spcAft>
              <a:buFont typeface="Arial"/>
              <a:buChar char="■"/>
            </a:pPr>
            <a:r>
              <a:rPr sz="1500" b="1">
                <a:solidFill>
                  <a:srgbClr val="003366"/>
                </a:solidFill>
                <a:latin typeface="Lato"/>
              </a:rPr>
              <a:t>Chưa gồm: nhiều thiết bị/phòng, đa vai trò người dùng, bảo mật phần cứng nâng cao, triển khai production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Yêu cầu chức năng &amp; phi chức năng</a:t>
            </a:r>
          </a:p>
        </p:txBody>
      </p:sp>
      <p:sp>
        <p:nvSpPr>
          <p:cNvPr id="3" name="Rounded Rectangle 2"/>
          <p:cNvSpPr/>
          <p:nvPr/>
        </p:nvSpPr>
        <p:spPr>
          <a:xfrm>
            <a:off x="338736" y="1118844"/>
            <a:ext cx="5557264" cy="500000"/>
          </a:xfrm>
          <a:prstGeom prst="round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736" y="1118844"/>
            <a:ext cx="5357264" cy="500000"/>
          </a:xfrm>
          <a:prstGeom prst="rect">
            <a:avLst/>
          </a:prstGeom>
          <a:noFill/>
        </p:spPr>
        <p:txBody>
          <a:bodyPr wrap="square" anchor="ctr">
            <a:spAutoFit/>
          </a:bodyPr>
          <a:lstStyle/>
          <a:p>
            <a:pPr algn="l">
              <a:lnSpc>
                <a:spcPct val="100000"/>
              </a:lnSpc>
              <a:buNone/>
            </a:pPr>
            <a:r>
              <a:rPr sz="1700" b="1" i="0">
                <a:solidFill>
                  <a:srgbClr val="FFFFFF"/>
                </a:solidFill>
                <a:latin typeface="Lato"/>
              </a:rPr>
              <a:t>Chức năng</a:t>
            </a:r>
          </a:p>
        </p:txBody>
      </p:sp>
      <p:sp>
        <p:nvSpPr>
          <p:cNvPr id="5" name="TextBox 4"/>
          <p:cNvSpPr txBox="1"/>
          <p:nvPr/>
        </p:nvSpPr>
        <p:spPr>
          <a:xfrm>
            <a:off x="338736" y="1758844"/>
            <a:ext cx="5557264" cy="4209124"/>
          </a:xfrm>
          <a:prstGeom prst="rect">
            <a:avLst/>
          </a:prstGeom>
          <a:noFill/>
        </p:spPr>
        <p:txBody>
          <a:bodyPr wrap="square" anchor="t">
            <a:spAutoFit/>
          </a:bodyPr>
          <a:lstStyle/>
          <a:p>
            <a:pPr marL="250000" indent="-250000" algn="l">
              <a:lnSpc>
                <a:spcPct val="108000"/>
              </a:lnSpc>
              <a:spcAft>
                <a:spcPts val="1000"/>
              </a:spcAft>
              <a:buFont typeface="Arial"/>
              <a:buChar char="■"/>
            </a:pPr>
            <a:r>
              <a:rPr sz="1600" b="1">
                <a:solidFill>
                  <a:srgbClr val="003366"/>
                </a:solidFill>
                <a:latin typeface="Lato"/>
              </a:rPr>
              <a:t>Người dùng: đăng ký, đăng nhập, refresh token, đăng xuất</a:t>
            </a:r>
          </a:p>
          <a:p>
            <a:pPr marL="250000" indent="-250000" algn="l">
              <a:lnSpc>
                <a:spcPct val="108000"/>
              </a:lnSpc>
              <a:spcAft>
                <a:spcPts val="1000"/>
              </a:spcAft>
              <a:buFont typeface="Arial"/>
              <a:buChar char="■"/>
            </a:pPr>
            <a:r>
              <a:rPr sz="1600" b="1">
                <a:solidFill>
                  <a:srgbClr val="003366"/>
                </a:solidFill>
                <a:latin typeface="Lato"/>
              </a:rPr>
              <a:t>Giám sát môi trường: nhiệt độ, độ ẩm, PPM, cảnh báo cháy</a:t>
            </a:r>
          </a:p>
          <a:p>
            <a:pPr marL="250000" indent="-250000" algn="l">
              <a:lnSpc>
                <a:spcPct val="108000"/>
              </a:lnSpc>
              <a:spcAft>
                <a:spcPts val="1000"/>
              </a:spcAft>
              <a:buFont typeface="Arial"/>
              <a:buChar char="■"/>
            </a:pPr>
            <a:r>
              <a:rPr sz="1600" b="1">
                <a:solidFill>
                  <a:srgbClr val="003366"/>
                </a:solidFill>
                <a:latin typeface="Lato"/>
              </a:rPr>
              <a:t>Điều khiển đèn/quạt: thủ công, hẹn giờ, tự động</a:t>
            </a:r>
          </a:p>
          <a:p>
            <a:pPr marL="250000" indent="-250000" algn="l">
              <a:lnSpc>
                <a:spcPct val="108000"/>
              </a:lnSpc>
              <a:spcAft>
                <a:spcPts val="1000"/>
              </a:spcAft>
              <a:buFont typeface="Arial"/>
              <a:buChar char="■"/>
            </a:pPr>
            <a:r>
              <a:rPr sz="1600" b="1">
                <a:solidFill>
                  <a:srgbClr val="003366"/>
                </a:solidFill>
                <a:latin typeface="Lato"/>
              </a:rPr>
              <a:t>Cảnh báo cháy: nhận trạng thái từ ESP32, áp dụng an toàn cho quạt</a:t>
            </a:r>
          </a:p>
        </p:txBody>
      </p:sp>
      <p:sp>
        <p:nvSpPr>
          <p:cNvPr id="6" name="Rounded Rectangle 5"/>
          <p:cNvSpPr/>
          <p:nvPr/>
        </p:nvSpPr>
        <p:spPr>
          <a:xfrm>
            <a:off x="6296000" y="1118844"/>
            <a:ext cx="5557264" cy="500000"/>
          </a:xfrm>
          <a:prstGeom prst="round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96000" y="1118844"/>
            <a:ext cx="5357264" cy="500000"/>
          </a:xfrm>
          <a:prstGeom prst="rect">
            <a:avLst/>
          </a:prstGeom>
          <a:noFill/>
        </p:spPr>
        <p:txBody>
          <a:bodyPr wrap="square" anchor="ctr">
            <a:spAutoFit/>
          </a:bodyPr>
          <a:lstStyle/>
          <a:p>
            <a:pPr algn="l">
              <a:lnSpc>
                <a:spcPct val="100000"/>
              </a:lnSpc>
              <a:buNone/>
            </a:pPr>
            <a:r>
              <a:rPr sz="1700" b="1" i="0">
                <a:solidFill>
                  <a:srgbClr val="FFFFFF"/>
                </a:solidFill>
                <a:latin typeface="Lato"/>
              </a:rPr>
              <a:t>Phi chức năng</a:t>
            </a:r>
          </a:p>
        </p:txBody>
      </p:sp>
      <p:sp>
        <p:nvSpPr>
          <p:cNvPr id="8" name="TextBox 7"/>
          <p:cNvSpPr txBox="1"/>
          <p:nvPr/>
        </p:nvSpPr>
        <p:spPr>
          <a:xfrm>
            <a:off x="6296000" y="1758844"/>
            <a:ext cx="5557264" cy="4209124"/>
          </a:xfrm>
          <a:prstGeom prst="rect">
            <a:avLst/>
          </a:prstGeom>
          <a:noFill/>
        </p:spPr>
        <p:txBody>
          <a:bodyPr wrap="square" anchor="t">
            <a:spAutoFit/>
          </a:bodyPr>
          <a:lstStyle/>
          <a:p>
            <a:pPr marL="250000" indent="-250000" algn="l">
              <a:lnSpc>
                <a:spcPct val="108000"/>
              </a:lnSpc>
              <a:spcAft>
                <a:spcPts val="1000"/>
              </a:spcAft>
              <a:buFont typeface="Arial"/>
              <a:buChar char="■"/>
            </a:pPr>
            <a:r>
              <a:rPr sz="1600" b="1">
                <a:solidFill>
                  <a:srgbClr val="003366"/>
                </a:solidFill>
                <a:latin typeface="Lato"/>
              </a:rPr>
              <a:t>Backend ↔ thiết bị IoT có độ trễ thấp</a:t>
            </a:r>
          </a:p>
          <a:p>
            <a:pPr marL="250000" indent="-250000" algn="l">
              <a:lnSpc>
                <a:spcPct val="108000"/>
              </a:lnSpc>
              <a:spcAft>
                <a:spcPts val="1000"/>
              </a:spcAft>
              <a:buFont typeface="Arial"/>
              <a:buChar char="■"/>
            </a:pPr>
            <a:r>
              <a:rPr sz="1600" b="1">
                <a:solidFill>
                  <a:srgbClr val="003366"/>
                </a:solidFill>
                <a:latin typeface="Lato"/>
              </a:rPr>
              <a:t>Backend ↔ MQTT broker dùng MQTT over TLS</a:t>
            </a:r>
          </a:p>
          <a:p>
            <a:pPr marL="250000" indent="-250000" algn="l">
              <a:lnSpc>
                <a:spcPct val="108000"/>
              </a:lnSpc>
              <a:spcAft>
                <a:spcPts val="1000"/>
              </a:spcAft>
              <a:buFont typeface="Arial"/>
              <a:buChar char="■"/>
            </a:pPr>
            <a:r>
              <a:rPr sz="1600" b="1">
                <a:solidFill>
                  <a:srgbClr val="003366"/>
                </a:solidFill>
                <a:latin typeface="Lato"/>
              </a:rPr>
              <a:t>API nghiệp vụ được xác thực bằng JWT</a:t>
            </a:r>
          </a:p>
          <a:p>
            <a:pPr marL="250000" indent="-250000" algn="l">
              <a:lnSpc>
                <a:spcPct val="108000"/>
              </a:lnSpc>
              <a:spcAft>
                <a:spcPts val="1000"/>
              </a:spcAft>
              <a:buFont typeface="Arial"/>
              <a:buChar char="■"/>
            </a:pPr>
            <a:r>
              <a:rPr sz="1600" b="1">
                <a:solidFill>
                  <a:srgbClr val="003366"/>
                </a:solidFill>
                <a:latin typeface="Lato"/>
              </a:rPr>
              <a:t>Logic tự động có thứ tự ưu tiên, tránh xung đột (tay/hẹn giờ/cảm biến)</a:t>
            </a:r>
          </a:p>
          <a:p>
            <a:pPr marL="250000" indent="-250000" algn="l">
              <a:lnSpc>
                <a:spcPct val="108000"/>
              </a:lnSpc>
              <a:spcAft>
                <a:spcPts val="1000"/>
              </a:spcAft>
              <a:buFont typeface="Arial"/>
              <a:buChar char="■"/>
            </a:pPr>
            <a:r>
              <a:rPr sz="1600" b="1">
                <a:solidFill>
                  <a:srgbClr val="003366"/>
                </a:solidFill>
                <a:latin typeface="Lato"/>
              </a:rPr>
              <a:t>Hệ thống cấu hình được bằng biến môi trường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00" y="2150000"/>
            <a:ext cx="8000000" cy="500000"/>
          </a:xfrm>
          <a:prstGeom prst="rect">
            <a:avLst/>
          </a:prstGeom>
          <a:noFill/>
        </p:spPr>
        <p:txBody>
          <a:bodyPr wrap="square" anchor="t">
            <a:spAutoFit/>
          </a:bodyPr>
          <a:lstStyle/>
          <a:p>
            <a:pPr algn="l">
              <a:lnSpc>
                <a:spcPct val="100000"/>
              </a:lnSpc>
              <a:buNone/>
            </a:pPr>
            <a:r>
              <a:rPr sz="2000" b="1" i="0">
                <a:solidFill>
                  <a:srgbClr val="C02034"/>
                </a:solidFill>
                <a:latin typeface="Lato"/>
              </a:rPr>
              <a:t>PHẦN 1</a:t>
            </a:r>
          </a:p>
        </p:txBody>
      </p:sp>
      <p:sp>
        <p:nvSpPr>
          <p:cNvPr id="3" name="TextBox 2"/>
          <p:cNvSpPr txBox="1"/>
          <p:nvPr/>
        </p:nvSpPr>
        <p:spPr>
          <a:xfrm>
            <a:off x="620000" y="2650000"/>
            <a:ext cx="9200000" cy="1300000"/>
          </a:xfrm>
          <a:prstGeom prst="rect">
            <a:avLst/>
          </a:prstGeom>
          <a:noFill/>
        </p:spPr>
        <p:txBody>
          <a:bodyPr wrap="square" anchor="t">
            <a:spAutoFit/>
          </a:bodyPr>
          <a:lstStyle/>
          <a:p>
            <a:pPr algn="l">
              <a:lnSpc>
                <a:spcPct val="105000"/>
              </a:lnSpc>
              <a:buNone/>
            </a:pPr>
            <a:r>
              <a:rPr sz="3600" b="1" i="0">
                <a:solidFill>
                  <a:srgbClr val="003366"/>
                </a:solidFill>
                <a:latin typeface="Lato"/>
              </a:rPr>
              <a:t>KIẾN TRÚC TỔNG QUAN
HỆ THỐNG IOT</a:t>
            </a:r>
          </a:p>
        </p:txBody>
      </p:sp>
      <p:sp>
        <p:nvSpPr>
          <p:cNvPr id="4" name="TextBox 3"/>
          <p:cNvSpPr txBox="1"/>
          <p:nvPr/>
        </p:nvSpPr>
        <p:spPr>
          <a:xfrm>
            <a:off x="640000" y="3950000"/>
            <a:ext cx="8800000" cy="700000"/>
          </a:xfrm>
          <a:prstGeom prst="rect">
            <a:avLst/>
          </a:prstGeom>
          <a:noFill/>
        </p:spPr>
        <p:txBody>
          <a:bodyPr wrap="square" anchor="t">
            <a:spAutoFit/>
          </a:bodyPr>
          <a:lstStyle/>
          <a:p>
            <a:pPr algn="l">
              <a:lnSpc>
                <a:spcPct val="100000"/>
              </a:lnSpc>
              <a:buNone/>
            </a:pPr>
            <a:r>
              <a:rPr sz="1600" b="0" i="0">
                <a:solidFill>
                  <a:srgbClr val="5A5A5A"/>
                </a:solidFill>
                <a:latin typeface="Lato"/>
              </a:rPr>
              <a:t>Sơ đồ kiến trúc  •  Thành phần &amp; công nghệ  •  Phương thức giao tiếp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Sơ đồ kiến trúc hệ thống</a:t>
            </a:r>
          </a:p>
        </p:txBody>
      </p:sp>
      <p:pic>
        <p:nvPicPr>
          <p:cNvPr id="3" name="Picture 2" descr="architecture.png"/>
          <p:cNvPicPr>
            <a:picLocks noChangeAspect="1"/>
          </p:cNvPicPr>
          <p:nvPr/>
        </p:nvPicPr>
        <p:blipFill>
          <a:blip r:embed="rId3"/>
          <a:srcRect t="4117"/>
          <a:stretch>
            <a:fillRect/>
          </a:stretch>
        </p:blipFill>
        <p:spPr>
          <a:xfrm>
            <a:off x="2701636" y="725490"/>
            <a:ext cx="6872316" cy="5443938"/>
          </a:xfrm>
          <a:prstGeom prst="rect">
            <a:avLst/>
          </a:prstGeom>
        </p:spPr>
      </p:pic>
      <p:sp>
        <p:nvSpPr>
          <p:cNvPr id="4" name="TextBox 3"/>
          <p:cNvSpPr txBox="1"/>
          <p:nvPr/>
        </p:nvSpPr>
        <p:spPr>
          <a:xfrm>
            <a:off x="311026" y="6169428"/>
            <a:ext cx="11514528" cy="460000"/>
          </a:xfrm>
          <a:prstGeom prst="rect">
            <a:avLst/>
          </a:prstGeom>
          <a:solidFill>
            <a:schemeClr val="bg1"/>
          </a:solidFill>
        </p:spPr>
        <p:txBody>
          <a:bodyPr wrap="square" anchor="t">
            <a:spAutoFit/>
          </a:bodyPr>
          <a:lstStyle/>
          <a:p>
            <a:pPr algn="ctr">
              <a:lnSpc>
                <a:spcPct val="100000"/>
              </a:lnSpc>
              <a:buNone/>
            </a:pPr>
            <a:r>
              <a:rPr sz="1300" b="0" i="1" dirty="0">
                <a:solidFill>
                  <a:srgbClr val="5A5A5A"/>
                </a:solidFill>
                <a:latin typeface="Lato"/>
              </a:rPr>
              <a:t>Mobile app </a:t>
            </a:r>
            <a:r>
              <a:rPr sz="1300" b="0" i="1" dirty="0" err="1">
                <a:solidFill>
                  <a:srgbClr val="5A5A5A"/>
                </a:solidFill>
                <a:latin typeface="Lato"/>
              </a:rPr>
              <a:t>không</a:t>
            </a:r>
            <a:r>
              <a:rPr sz="1300" b="0" i="1" dirty="0">
                <a:solidFill>
                  <a:srgbClr val="5A5A5A"/>
                </a:solidFill>
                <a:latin typeface="Lato"/>
              </a:rPr>
              <a:t> </a:t>
            </a:r>
            <a:r>
              <a:rPr sz="1300" b="0" i="1" dirty="0" err="1">
                <a:solidFill>
                  <a:srgbClr val="5A5A5A"/>
                </a:solidFill>
                <a:latin typeface="Lato"/>
              </a:rPr>
              <a:t>giao</a:t>
            </a:r>
            <a:r>
              <a:rPr sz="1300" b="0" i="1" dirty="0">
                <a:solidFill>
                  <a:srgbClr val="5A5A5A"/>
                </a:solidFill>
                <a:latin typeface="Lato"/>
              </a:rPr>
              <a:t> </a:t>
            </a:r>
            <a:r>
              <a:rPr sz="1300" b="0" i="1" dirty="0" err="1">
                <a:solidFill>
                  <a:srgbClr val="5A5A5A"/>
                </a:solidFill>
                <a:latin typeface="Lato"/>
              </a:rPr>
              <a:t>tiếp</a:t>
            </a:r>
            <a:r>
              <a:rPr sz="1300" b="0" i="1" dirty="0">
                <a:solidFill>
                  <a:srgbClr val="5A5A5A"/>
                </a:solidFill>
                <a:latin typeface="Lato"/>
              </a:rPr>
              <a:t> </a:t>
            </a:r>
            <a:r>
              <a:rPr sz="1300" b="0" i="1" dirty="0" err="1">
                <a:solidFill>
                  <a:srgbClr val="5A5A5A"/>
                </a:solidFill>
                <a:latin typeface="Lato"/>
              </a:rPr>
              <a:t>trực</a:t>
            </a:r>
            <a:r>
              <a:rPr sz="1300" b="0" i="1" dirty="0">
                <a:solidFill>
                  <a:srgbClr val="5A5A5A"/>
                </a:solidFill>
                <a:latin typeface="Lato"/>
              </a:rPr>
              <a:t> </a:t>
            </a:r>
            <a:r>
              <a:rPr sz="1300" b="0" i="1" dirty="0" err="1">
                <a:solidFill>
                  <a:srgbClr val="5A5A5A"/>
                </a:solidFill>
                <a:latin typeface="Lato"/>
              </a:rPr>
              <a:t>tiếp</a:t>
            </a:r>
            <a:r>
              <a:rPr sz="1300" b="0" i="1" dirty="0">
                <a:solidFill>
                  <a:srgbClr val="5A5A5A"/>
                </a:solidFill>
                <a:latin typeface="Lato"/>
              </a:rPr>
              <a:t> </a:t>
            </a:r>
            <a:r>
              <a:rPr sz="1300" b="0" i="1" dirty="0" err="1">
                <a:solidFill>
                  <a:srgbClr val="5A5A5A"/>
                </a:solidFill>
                <a:latin typeface="Lato"/>
              </a:rPr>
              <a:t>với</a:t>
            </a:r>
            <a:r>
              <a:rPr sz="1300" b="0" i="1" dirty="0">
                <a:solidFill>
                  <a:srgbClr val="5A5A5A"/>
                </a:solidFill>
                <a:latin typeface="Lato"/>
              </a:rPr>
              <a:t> ESP32 - </a:t>
            </a:r>
            <a:r>
              <a:rPr sz="1300" b="0" i="1" dirty="0" err="1">
                <a:solidFill>
                  <a:srgbClr val="5A5A5A"/>
                </a:solidFill>
                <a:latin typeface="Lato"/>
              </a:rPr>
              <a:t>mọi</a:t>
            </a:r>
            <a:r>
              <a:rPr sz="1300" b="0" i="1" dirty="0">
                <a:solidFill>
                  <a:srgbClr val="5A5A5A"/>
                </a:solidFill>
                <a:latin typeface="Lato"/>
              </a:rPr>
              <a:t> </a:t>
            </a:r>
            <a:r>
              <a:rPr sz="1300" b="0" i="1" dirty="0" err="1">
                <a:solidFill>
                  <a:srgbClr val="5A5A5A"/>
                </a:solidFill>
                <a:latin typeface="Lato"/>
              </a:rPr>
              <a:t>thao</a:t>
            </a:r>
            <a:r>
              <a:rPr sz="1300" b="0" i="1" dirty="0">
                <a:solidFill>
                  <a:srgbClr val="5A5A5A"/>
                </a:solidFill>
                <a:latin typeface="Lato"/>
              </a:rPr>
              <a:t> </a:t>
            </a:r>
            <a:r>
              <a:rPr sz="1300" b="0" i="1" dirty="0" err="1">
                <a:solidFill>
                  <a:srgbClr val="5A5A5A"/>
                </a:solidFill>
                <a:latin typeface="Lato"/>
              </a:rPr>
              <a:t>tác</a:t>
            </a:r>
            <a:r>
              <a:rPr sz="1300" b="0" i="1" dirty="0">
                <a:solidFill>
                  <a:srgbClr val="5A5A5A"/>
                </a:solidFill>
                <a:latin typeface="Lato"/>
              </a:rPr>
              <a:t> </a:t>
            </a:r>
            <a:r>
              <a:rPr sz="1300" b="0" i="1" dirty="0" err="1">
                <a:solidFill>
                  <a:srgbClr val="5A5A5A"/>
                </a:solidFill>
                <a:latin typeface="Lato"/>
              </a:rPr>
              <a:t>đều</a:t>
            </a:r>
            <a:r>
              <a:rPr sz="1300" b="0" i="1" dirty="0">
                <a:solidFill>
                  <a:srgbClr val="5A5A5A"/>
                </a:solidFill>
                <a:latin typeface="Lato"/>
              </a:rPr>
              <a:t> </a:t>
            </a:r>
            <a:r>
              <a:rPr sz="1300" b="0" i="1" dirty="0" err="1">
                <a:solidFill>
                  <a:srgbClr val="5A5A5A"/>
                </a:solidFill>
                <a:latin typeface="Lato"/>
              </a:rPr>
              <a:t>đi</a:t>
            </a:r>
            <a:r>
              <a:rPr sz="1300" b="0" i="1" dirty="0">
                <a:solidFill>
                  <a:srgbClr val="5A5A5A"/>
                </a:solidFill>
                <a:latin typeface="Lato"/>
              </a:rPr>
              <a:t> qua backend, </a:t>
            </a:r>
            <a:r>
              <a:rPr sz="1300" b="0" i="1" dirty="0" err="1">
                <a:solidFill>
                  <a:srgbClr val="5A5A5A"/>
                </a:solidFill>
                <a:latin typeface="Lato"/>
              </a:rPr>
              <a:t>giúp</a:t>
            </a:r>
            <a:r>
              <a:rPr sz="1300" b="0" i="1" dirty="0">
                <a:solidFill>
                  <a:srgbClr val="5A5A5A"/>
                </a:solidFill>
                <a:latin typeface="Lato"/>
              </a:rPr>
              <a:t> </a:t>
            </a:r>
            <a:r>
              <a:rPr sz="1300" b="0" i="1" dirty="0" err="1">
                <a:solidFill>
                  <a:srgbClr val="5A5A5A"/>
                </a:solidFill>
                <a:latin typeface="Lato"/>
              </a:rPr>
              <a:t>kiểm</a:t>
            </a:r>
            <a:r>
              <a:rPr sz="1300" b="0" i="1" dirty="0">
                <a:solidFill>
                  <a:srgbClr val="5A5A5A"/>
                </a:solidFill>
                <a:latin typeface="Lato"/>
              </a:rPr>
              <a:t> </a:t>
            </a:r>
            <a:r>
              <a:rPr sz="1300" b="0" i="1" dirty="0" err="1">
                <a:solidFill>
                  <a:srgbClr val="5A5A5A"/>
                </a:solidFill>
                <a:latin typeface="Lato"/>
              </a:rPr>
              <a:t>soát</a:t>
            </a:r>
            <a:r>
              <a:rPr sz="1300" b="0" i="1" dirty="0">
                <a:solidFill>
                  <a:srgbClr val="5A5A5A"/>
                </a:solidFill>
                <a:latin typeface="Lato"/>
              </a:rPr>
              <a:t> </a:t>
            </a:r>
            <a:r>
              <a:rPr sz="1300" b="0" i="1" dirty="0" err="1">
                <a:solidFill>
                  <a:srgbClr val="5A5A5A"/>
                </a:solidFill>
                <a:latin typeface="Lato"/>
              </a:rPr>
              <a:t>quyền</a:t>
            </a:r>
            <a:r>
              <a:rPr sz="1300" b="0" i="1" dirty="0">
                <a:solidFill>
                  <a:srgbClr val="5A5A5A"/>
                </a:solidFill>
                <a:latin typeface="Lato"/>
              </a:rPr>
              <a:t> </a:t>
            </a:r>
            <a:r>
              <a:rPr sz="1300" b="0" i="1" dirty="0" err="1">
                <a:solidFill>
                  <a:srgbClr val="5A5A5A"/>
                </a:solidFill>
                <a:latin typeface="Lato"/>
              </a:rPr>
              <a:t>truy</a:t>
            </a:r>
            <a:r>
              <a:rPr sz="1300" b="0" i="1" dirty="0">
                <a:solidFill>
                  <a:srgbClr val="5A5A5A"/>
                </a:solidFill>
                <a:latin typeface="Lato"/>
              </a:rPr>
              <a:t> </a:t>
            </a:r>
            <a:r>
              <a:rPr sz="1300" b="0" i="1" dirty="0" err="1">
                <a:solidFill>
                  <a:srgbClr val="5A5A5A"/>
                </a:solidFill>
                <a:latin typeface="Lato"/>
              </a:rPr>
              <a:t>cập</a:t>
            </a:r>
            <a:r>
              <a:rPr sz="1300" b="0" i="1" dirty="0">
                <a:solidFill>
                  <a:srgbClr val="5A5A5A"/>
                </a:solidFill>
                <a:latin typeface="Lato"/>
              </a:rPr>
              <a:t> </a:t>
            </a:r>
            <a:r>
              <a:rPr sz="1300" b="0" i="1" dirty="0" err="1">
                <a:solidFill>
                  <a:srgbClr val="5A5A5A"/>
                </a:solidFill>
                <a:latin typeface="Lato"/>
              </a:rPr>
              <a:t>và</a:t>
            </a:r>
            <a:r>
              <a:rPr sz="1300" b="0" i="1" dirty="0">
                <a:solidFill>
                  <a:srgbClr val="5A5A5A"/>
                </a:solidFill>
                <a:latin typeface="Lato"/>
              </a:rPr>
              <a:t> </a:t>
            </a:r>
            <a:r>
              <a:rPr sz="1300" b="0" i="1" dirty="0" err="1">
                <a:solidFill>
                  <a:srgbClr val="5A5A5A"/>
                </a:solidFill>
                <a:latin typeface="Lato"/>
              </a:rPr>
              <a:t>tập</a:t>
            </a:r>
            <a:r>
              <a:rPr sz="1300" b="0" i="1" dirty="0">
                <a:solidFill>
                  <a:srgbClr val="5A5A5A"/>
                </a:solidFill>
                <a:latin typeface="Lato"/>
              </a:rPr>
              <a:t> </a:t>
            </a:r>
            <a:r>
              <a:rPr sz="1300" b="0" i="1" dirty="0" err="1">
                <a:solidFill>
                  <a:srgbClr val="5A5A5A"/>
                </a:solidFill>
                <a:latin typeface="Lato"/>
              </a:rPr>
              <a:t>trung</a:t>
            </a:r>
            <a:r>
              <a:rPr sz="1300" b="0" i="1" dirty="0">
                <a:solidFill>
                  <a:srgbClr val="5A5A5A"/>
                </a:solidFill>
                <a:latin typeface="Lato"/>
              </a:rPr>
              <a:t> logic </a:t>
            </a:r>
            <a:r>
              <a:rPr sz="1300" b="0" i="1" dirty="0" err="1">
                <a:solidFill>
                  <a:srgbClr val="5A5A5A"/>
                </a:solidFill>
                <a:latin typeface="Lato"/>
              </a:rPr>
              <a:t>nghiệp</a:t>
            </a:r>
            <a:r>
              <a:rPr sz="1300" b="0" i="1" dirty="0">
                <a:solidFill>
                  <a:srgbClr val="5A5A5A"/>
                </a:solidFill>
                <a:latin typeface="Lato"/>
              </a:rPr>
              <a:t> </a:t>
            </a:r>
            <a:r>
              <a:rPr sz="1300" b="0" i="1" dirty="0" err="1">
                <a:solidFill>
                  <a:srgbClr val="5A5A5A"/>
                </a:solidFill>
                <a:latin typeface="Lato"/>
              </a:rPr>
              <a:t>vụ</a:t>
            </a:r>
            <a:r>
              <a:rPr sz="1300" b="0" i="1" dirty="0">
                <a:solidFill>
                  <a:srgbClr val="5A5A5A"/>
                </a:solidFill>
                <a:latin typeface="Lato"/>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Các thành phần hệ thống &amp; công nghệ</a:t>
            </a:r>
          </a:p>
        </p:txBody>
      </p:sp>
      <p:graphicFrame>
        <p:nvGraphicFramePr>
          <p:cNvPr id="3" name="Table 2"/>
          <p:cNvGraphicFramePr>
            <a:graphicFrameLocks noGrp="1"/>
          </p:cNvGraphicFramePr>
          <p:nvPr/>
        </p:nvGraphicFramePr>
        <p:xfrm>
          <a:off x="338736" y="1158844"/>
          <a:ext cx="11514528" cy="3600000"/>
        </p:xfrm>
        <a:graphic>
          <a:graphicData uri="http://schemas.openxmlformats.org/drawingml/2006/table">
            <a:tbl>
              <a:tblPr>
                <a:tableStyleId>{5C22544A-7EE6-4342-B048-85BDC9FD1C3A}</a:tableStyleId>
              </a:tblPr>
              <a:tblGrid>
                <a:gridCol w="2000000">
                  <a:extLst>
                    <a:ext uri="{9D8B030D-6E8A-4147-A177-3AD203B41FA5}">
                      <a16:colId xmlns:a16="http://schemas.microsoft.com/office/drawing/2014/main" val="20000"/>
                    </a:ext>
                  </a:extLst>
                </a:gridCol>
                <a:gridCol w="5200000">
                  <a:extLst>
                    <a:ext uri="{9D8B030D-6E8A-4147-A177-3AD203B41FA5}">
                      <a16:colId xmlns:a16="http://schemas.microsoft.com/office/drawing/2014/main" val="20001"/>
                    </a:ext>
                  </a:extLst>
                </a:gridCol>
                <a:gridCol w="4314528">
                  <a:extLst>
                    <a:ext uri="{9D8B030D-6E8A-4147-A177-3AD203B41FA5}">
                      <a16:colId xmlns:a16="http://schemas.microsoft.com/office/drawing/2014/main" val="20002"/>
                    </a:ext>
                  </a:extLst>
                </a:gridCol>
              </a:tblGrid>
              <a:tr h="600000">
                <a:tc>
                  <a:txBody>
                    <a:bodyPr/>
                    <a:lstStyle/>
                    <a:p>
                      <a:pPr>
                        <a:buNone/>
                      </a:pPr>
                      <a:r>
                        <a:rPr sz="1400" b="1">
                          <a:solidFill>
                            <a:srgbClr val="FFFFFF"/>
                          </a:solidFill>
                          <a:latin typeface="Lato"/>
                        </a:rPr>
                        <a:t>Thành phần</a:t>
                      </a:r>
                    </a:p>
                  </a:txBody>
                  <a:tcPr marL="60000" marR="60000" marT="20000" marB="20000" anchor="ctr">
                    <a:solidFill>
                      <a:srgbClr val="003366"/>
                    </a:solidFill>
                  </a:tcPr>
                </a:tc>
                <a:tc>
                  <a:txBody>
                    <a:bodyPr/>
                    <a:lstStyle/>
                    <a:p>
                      <a:pPr>
                        <a:buNone/>
                      </a:pPr>
                      <a:r>
                        <a:rPr sz="1400" b="1">
                          <a:solidFill>
                            <a:srgbClr val="FFFFFF"/>
                          </a:solidFill>
                          <a:latin typeface="Lato"/>
                        </a:rPr>
                        <a:t>Công nghệ sử dụng</a:t>
                      </a:r>
                    </a:p>
                  </a:txBody>
                  <a:tcPr marL="60000" marR="60000" marT="20000" marB="20000" anchor="ctr">
                    <a:solidFill>
                      <a:srgbClr val="003366"/>
                    </a:solidFill>
                  </a:tcPr>
                </a:tc>
                <a:tc>
                  <a:txBody>
                    <a:bodyPr/>
                    <a:lstStyle/>
                    <a:p>
                      <a:pPr>
                        <a:buNone/>
                      </a:pPr>
                      <a:r>
                        <a:rPr sz="1400" b="1">
                          <a:solidFill>
                            <a:srgbClr val="FFFFFF"/>
                          </a:solidFill>
                          <a:latin typeface="Lato"/>
                        </a:rPr>
                        <a:t>Vai trò chính</a:t>
                      </a:r>
                    </a:p>
                  </a:txBody>
                  <a:tcPr marL="60000" marR="60000" marT="20000" marB="20000" anchor="ctr">
                    <a:solidFill>
                      <a:srgbClr val="003366"/>
                    </a:solidFill>
                  </a:tcPr>
                </a:tc>
                <a:extLst>
                  <a:ext uri="{0D108BD9-81ED-4DB2-BD59-A6C34878D82A}">
                    <a16:rowId xmlns:a16="http://schemas.microsoft.com/office/drawing/2014/main" val="10000"/>
                  </a:ext>
                </a:extLst>
              </a:tr>
              <a:tr h="600000">
                <a:tc>
                  <a:txBody>
                    <a:bodyPr/>
                    <a:lstStyle/>
                    <a:p>
                      <a:pPr>
                        <a:buNone/>
                      </a:pPr>
                      <a:r>
                        <a:rPr sz="1300" b="1">
                          <a:solidFill>
                            <a:srgbClr val="222222"/>
                          </a:solidFill>
                          <a:latin typeface="Lato"/>
                        </a:rPr>
                        <a:t>Thiết bị IoT</a:t>
                      </a:r>
                    </a:p>
                  </a:txBody>
                  <a:tcPr marL="60000" marR="60000" marT="16000" marB="16000" anchor="ctr">
                    <a:solidFill>
                      <a:srgbClr val="FFFFFF"/>
                    </a:solidFill>
                  </a:tcPr>
                </a:tc>
                <a:tc>
                  <a:txBody>
                    <a:bodyPr/>
                    <a:lstStyle/>
                    <a:p>
                      <a:pPr>
                        <a:buNone/>
                      </a:pPr>
                      <a:r>
                        <a:rPr sz="1300" b="0">
                          <a:solidFill>
                            <a:srgbClr val="222222"/>
                          </a:solidFill>
                          <a:latin typeface="Lato"/>
                        </a:rPr>
                        <a:t>ESP32, DHT22, MQ135, cảm biến ánh sáng, relay</a:t>
                      </a:r>
                    </a:p>
                  </a:txBody>
                  <a:tcPr marL="60000" marR="60000" marT="16000" marB="16000" anchor="ctr">
                    <a:solidFill>
                      <a:srgbClr val="FFFFFF"/>
                    </a:solidFill>
                  </a:tcPr>
                </a:tc>
                <a:tc>
                  <a:txBody>
                    <a:bodyPr/>
                    <a:lstStyle/>
                    <a:p>
                      <a:pPr>
                        <a:buNone/>
                      </a:pPr>
                      <a:r>
                        <a:rPr sz="1300" b="0">
                          <a:solidFill>
                            <a:srgbClr val="222222"/>
                          </a:solidFill>
                          <a:latin typeface="Lato"/>
                        </a:rPr>
                        <a:t>Thu thập dữ liệu &amp; điều khiển đèn/quạt</a:t>
                      </a:r>
                    </a:p>
                  </a:txBody>
                  <a:tcPr marL="60000" marR="60000" marT="16000" marB="16000" anchor="ctr">
                    <a:solidFill>
                      <a:srgbClr val="FFFFFF"/>
                    </a:solidFill>
                  </a:tcPr>
                </a:tc>
                <a:extLst>
                  <a:ext uri="{0D108BD9-81ED-4DB2-BD59-A6C34878D82A}">
                    <a16:rowId xmlns:a16="http://schemas.microsoft.com/office/drawing/2014/main" val="10001"/>
                  </a:ext>
                </a:extLst>
              </a:tr>
              <a:tr h="600000">
                <a:tc>
                  <a:txBody>
                    <a:bodyPr/>
                    <a:lstStyle/>
                    <a:p>
                      <a:pPr>
                        <a:buNone/>
                      </a:pPr>
                      <a:r>
                        <a:rPr sz="1300" b="1">
                          <a:solidFill>
                            <a:srgbClr val="222222"/>
                          </a:solidFill>
                          <a:latin typeface="Lato"/>
                        </a:rPr>
                        <a:t>MQTT Broker</a:t>
                      </a:r>
                    </a:p>
                  </a:txBody>
                  <a:tcPr marL="60000" marR="60000" marT="16000" marB="16000" anchor="ctr">
                    <a:solidFill>
                      <a:srgbClr val="F2F4F7"/>
                    </a:solidFill>
                  </a:tcPr>
                </a:tc>
                <a:tc>
                  <a:txBody>
                    <a:bodyPr/>
                    <a:lstStyle/>
                    <a:p>
                      <a:pPr>
                        <a:buNone/>
                      </a:pPr>
                      <a:r>
                        <a:rPr sz="1300" b="0">
                          <a:solidFill>
                            <a:srgbClr val="222222"/>
                          </a:solidFill>
                          <a:latin typeface="Lato"/>
                        </a:rPr>
                        <a:t>EMQX Cloud (MQTT over TLS)</a:t>
                      </a:r>
                    </a:p>
                  </a:txBody>
                  <a:tcPr marL="60000" marR="60000" marT="16000" marB="16000" anchor="ctr">
                    <a:solidFill>
                      <a:srgbClr val="F2F4F7"/>
                    </a:solidFill>
                  </a:tcPr>
                </a:tc>
                <a:tc>
                  <a:txBody>
                    <a:bodyPr/>
                    <a:lstStyle/>
                    <a:p>
                      <a:pPr>
                        <a:buNone/>
                      </a:pPr>
                      <a:r>
                        <a:rPr sz="1300" b="0">
                          <a:solidFill>
                            <a:srgbClr val="222222"/>
                          </a:solidFill>
                          <a:latin typeface="Lato"/>
                        </a:rPr>
                        <a:t>Trung gian pub/sub giữa backend và ESP32</a:t>
                      </a:r>
                    </a:p>
                  </a:txBody>
                  <a:tcPr marL="60000" marR="60000" marT="16000" marB="16000" anchor="ctr">
                    <a:solidFill>
                      <a:srgbClr val="F2F4F7"/>
                    </a:solidFill>
                  </a:tcPr>
                </a:tc>
                <a:extLst>
                  <a:ext uri="{0D108BD9-81ED-4DB2-BD59-A6C34878D82A}">
                    <a16:rowId xmlns:a16="http://schemas.microsoft.com/office/drawing/2014/main" val="10002"/>
                  </a:ext>
                </a:extLst>
              </a:tr>
              <a:tr h="600000">
                <a:tc>
                  <a:txBody>
                    <a:bodyPr/>
                    <a:lstStyle/>
                    <a:p>
                      <a:pPr>
                        <a:buNone/>
                      </a:pPr>
                      <a:r>
                        <a:rPr sz="1300" b="1">
                          <a:solidFill>
                            <a:srgbClr val="222222"/>
                          </a:solidFill>
                          <a:latin typeface="Lato"/>
                        </a:rPr>
                        <a:t>Backend Server</a:t>
                      </a:r>
                    </a:p>
                  </a:txBody>
                  <a:tcPr marL="60000" marR="60000" marT="16000" marB="16000" anchor="ctr">
                    <a:solidFill>
                      <a:srgbClr val="FFFFFF"/>
                    </a:solidFill>
                  </a:tcPr>
                </a:tc>
                <a:tc>
                  <a:txBody>
                    <a:bodyPr/>
                    <a:lstStyle/>
                    <a:p>
                      <a:pPr>
                        <a:buNone/>
                      </a:pPr>
                      <a:r>
                        <a:rPr sz="1300" b="0">
                          <a:solidFill>
                            <a:srgbClr val="222222"/>
                          </a:solidFill>
                          <a:latin typeface="Lato"/>
                        </a:rPr>
                        <a:t>Node.js, Express.js, Mongoose, MQTT.js, JWT, Swagger/OpenAPI</a:t>
                      </a:r>
                    </a:p>
                  </a:txBody>
                  <a:tcPr marL="60000" marR="60000" marT="16000" marB="16000" anchor="ctr">
                    <a:solidFill>
                      <a:srgbClr val="FFFFFF"/>
                    </a:solidFill>
                  </a:tcPr>
                </a:tc>
                <a:tc>
                  <a:txBody>
                    <a:bodyPr/>
                    <a:lstStyle/>
                    <a:p>
                      <a:pPr>
                        <a:buNone/>
                      </a:pPr>
                      <a:r>
                        <a:rPr sz="1300" b="0">
                          <a:solidFill>
                            <a:srgbClr val="222222"/>
                          </a:solidFill>
                          <a:latin typeface="Lato"/>
                        </a:rPr>
                        <a:t>REST API, xác thực, logic nghiệp vụ, MQTT client</a:t>
                      </a:r>
                    </a:p>
                  </a:txBody>
                  <a:tcPr marL="60000" marR="60000" marT="16000" marB="16000" anchor="ctr">
                    <a:solidFill>
                      <a:srgbClr val="FFFFFF"/>
                    </a:solidFill>
                  </a:tcPr>
                </a:tc>
                <a:extLst>
                  <a:ext uri="{0D108BD9-81ED-4DB2-BD59-A6C34878D82A}">
                    <a16:rowId xmlns:a16="http://schemas.microsoft.com/office/drawing/2014/main" val="10003"/>
                  </a:ext>
                </a:extLst>
              </a:tr>
              <a:tr h="600000">
                <a:tc>
                  <a:txBody>
                    <a:bodyPr/>
                    <a:lstStyle/>
                    <a:p>
                      <a:pPr>
                        <a:buNone/>
                      </a:pPr>
                      <a:r>
                        <a:rPr sz="1300" b="1">
                          <a:solidFill>
                            <a:srgbClr val="222222"/>
                          </a:solidFill>
                          <a:latin typeface="Lato"/>
                        </a:rPr>
                        <a:t>Database</a:t>
                      </a:r>
                    </a:p>
                  </a:txBody>
                  <a:tcPr marL="60000" marR="60000" marT="16000" marB="16000" anchor="ctr">
                    <a:solidFill>
                      <a:srgbClr val="F2F4F7"/>
                    </a:solidFill>
                  </a:tcPr>
                </a:tc>
                <a:tc>
                  <a:txBody>
                    <a:bodyPr/>
                    <a:lstStyle/>
                    <a:p>
                      <a:pPr>
                        <a:buNone/>
                      </a:pPr>
                      <a:r>
                        <a:rPr sz="1300" b="0">
                          <a:solidFill>
                            <a:srgbClr val="222222"/>
                          </a:solidFill>
                          <a:latin typeface="Lato"/>
                        </a:rPr>
                        <a:t>MongoDB Atlas</a:t>
                      </a:r>
                    </a:p>
                  </a:txBody>
                  <a:tcPr marL="60000" marR="60000" marT="16000" marB="16000" anchor="ctr">
                    <a:solidFill>
                      <a:srgbClr val="F2F4F7"/>
                    </a:solidFill>
                  </a:tcPr>
                </a:tc>
                <a:tc>
                  <a:txBody>
                    <a:bodyPr/>
                    <a:lstStyle/>
                    <a:p>
                      <a:pPr>
                        <a:buNone/>
                      </a:pPr>
                      <a:r>
                        <a:rPr sz="1300" b="0">
                          <a:solidFill>
                            <a:srgbClr val="222222"/>
                          </a:solidFill>
                          <a:latin typeface="Lato"/>
                        </a:rPr>
                        <a:t>Lưu user, token, trạng thái thiết bị, dữ liệu cảm biến</a:t>
                      </a:r>
                    </a:p>
                  </a:txBody>
                  <a:tcPr marL="60000" marR="60000" marT="16000" marB="16000" anchor="ctr">
                    <a:solidFill>
                      <a:srgbClr val="F2F4F7"/>
                    </a:solidFill>
                  </a:tcPr>
                </a:tc>
                <a:extLst>
                  <a:ext uri="{0D108BD9-81ED-4DB2-BD59-A6C34878D82A}">
                    <a16:rowId xmlns:a16="http://schemas.microsoft.com/office/drawing/2014/main" val="10004"/>
                  </a:ext>
                </a:extLst>
              </a:tr>
              <a:tr h="600000">
                <a:tc>
                  <a:txBody>
                    <a:bodyPr/>
                    <a:lstStyle/>
                    <a:p>
                      <a:pPr>
                        <a:buNone/>
                      </a:pPr>
                      <a:r>
                        <a:rPr sz="1300" b="1">
                          <a:solidFill>
                            <a:srgbClr val="222222"/>
                          </a:solidFill>
                          <a:latin typeface="Lato"/>
                        </a:rPr>
                        <a:t>Mobile App</a:t>
                      </a:r>
                    </a:p>
                  </a:txBody>
                  <a:tcPr marL="60000" marR="60000" marT="16000" marB="16000" anchor="ctr">
                    <a:solidFill>
                      <a:srgbClr val="FFFFFF"/>
                    </a:solidFill>
                  </a:tcPr>
                </a:tc>
                <a:tc>
                  <a:txBody>
                    <a:bodyPr/>
                    <a:lstStyle/>
                    <a:p>
                      <a:pPr>
                        <a:buNone/>
                      </a:pPr>
                      <a:r>
                        <a:rPr sz="1300" b="0">
                          <a:solidFill>
                            <a:srgbClr val="222222"/>
                          </a:solidFill>
                          <a:latin typeface="Lato"/>
                        </a:rPr>
                        <a:t>React Native, TypeScript</a:t>
                      </a:r>
                    </a:p>
                  </a:txBody>
                  <a:tcPr marL="60000" marR="60000" marT="16000" marB="16000" anchor="ctr">
                    <a:solidFill>
                      <a:srgbClr val="FFFFFF"/>
                    </a:solidFill>
                  </a:tcPr>
                </a:tc>
                <a:tc>
                  <a:txBody>
                    <a:bodyPr/>
                    <a:lstStyle/>
                    <a:p>
                      <a:pPr>
                        <a:buNone/>
                      </a:pPr>
                      <a:r>
                        <a:rPr sz="1300" b="0">
                          <a:solidFill>
                            <a:srgbClr val="222222"/>
                          </a:solidFill>
                          <a:latin typeface="Lato"/>
                        </a:rPr>
                        <a:t>Giao diện người dùng, điều khiển thiết bị</a:t>
                      </a:r>
                    </a:p>
                  </a:txBody>
                  <a:tcPr marL="60000" marR="60000" marT="16000" marB="1600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00" y="2150000"/>
            <a:ext cx="8000000" cy="500000"/>
          </a:xfrm>
          <a:prstGeom prst="rect">
            <a:avLst/>
          </a:prstGeom>
          <a:noFill/>
        </p:spPr>
        <p:txBody>
          <a:bodyPr wrap="square" anchor="t">
            <a:spAutoFit/>
          </a:bodyPr>
          <a:lstStyle/>
          <a:p>
            <a:pPr algn="l">
              <a:lnSpc>
                <a:spcPct val="100000"/>
              </a:lnSpc>
              <a:buNone/>
            </a:pPr>
            <a:r>
              <a:rPr sz="2000" b="1" i="0">
                <a:solidFill>
                  <a:srgbClr val="C02034"/>
                </a:solidFill>
                <a:latin typeface="Lato"/>
              </a:rPr>
              <a:t>PHẦN 2</a:t>
            </a:r>
          </a:p>
        </p:txBody>
      </p:sp>
      <p:sp>
        <p:nvSpPr>
          <p:cNvPr id="3" name="TextBox 2"/>
          <p:cNvSpPr txBox="1"/>
          <p:nvPr/>
        </p:nvSpPr>
        <p:spPr>
          <a:xfrm>
            <a:off x="620000" y="2650000"/>
            <a:ext cx="9200000" cy="1300000"/>
          </a:xfrm>
          <a:prstGeom prst="rect">
            <a:avLst/>
          </a:prstGeom>
          <a:noFill/>
        </p:spPr>
        <p:txBody>
          <a:bodyPr wrap="square" anchor="t">
            <a:spAutoFit/>
          </a:bodyPr>
          <a:lstStyle/>
          <a:p>
            <a:pPr algn="l">
              <a:lnSpc>
                <a:spcPct val="105000"/>
              </a:lnSpc>
              <a:buNone/>
            </a:pPr>
            <a:r>
              <a:rPr sz="3600" b="1" i="0">
                <a:solidFill>
                  <a:srgbClr val="003366"/>
                </a:solidFill>
                <a:latin typeface="Lato"/>
              </a:rPr>
              <a:t>TRIỂN KHAI XÂY DỰNG
HỆ THỐNG</a:t>
            </a:r>
          </a:p>
        </p:txBody>
      </p:sp>
      <p:sp>
        <p:nvSpPr>
          <p:cNvPr id="4" name="TextBox 3"/>
          <p:cNvSpPr txBox="1"/>
          <p:nvPr/>
        </p:nvSpPr>
        <p:spPr>
          <a:xfrm>
            <a:off x="640000" y="3950000"/>
            <a:ext cx="8800000" cy="700000"/>
          </a:xfrm>
          <a:prstGeom prst="rect">
            <a:avLst/>
          </a:prstGeom>
          <a:noFill/>
        </p:spPr>
        <p:txBody>
          <a:bodyPr wrap="square" anchor="t">
            <a:spAutoFit/>
          </a:bodyPr>
          <a:lstStyle/>
          <a:p>
            <a:pPr algn="l">
              <a:lnSpc>
                <a:spcPct val="100000"/>
              </a:lnSpc>
              <a:buNone/>
            </a:pPr>
            <a:r>
              <a:rPr sz="1600" b="0" i="0">
                <a:solidFill>
                  <a:srgbClr val="5A5A5A"/>
                </a:solidFill>
                <a:latin typeface="Lato"/>
              </a:rPr>
              <a:t>Chức năng nghiệp vụ  •  Giao diện mobile app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Chức năng điều khiển đèn &amp; quạt</a:t>
            </a:r>
          </a:p>
        </p:txBody>
      </p:sp>
      <p:sp>
        <p:nvSpPr>
          <p:cNvPr id="3" name="Rounded Rectangle 2"/>
          <p:cNvSpPr/>
          <p:nvPr/>
        </p:nvSpPr>
        <p:spPr>
          <a:xfrm>
            <a:off x="338736" y="1118844"/>
            <a:ext cx="5557264" cy="500000"/>
          </a:xfrm>
          <a:prstGeom prst="round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736" y="1118844"/>
            <a:ext cx="5357264" cy="500000"/>
          </a:xfrm>
          <a:prstGeom prst="rect">
            <a:avLst/>
          </a:prstGeom>
          <a:noFill/>
        </p:spPr>
        <p:txBody>
          <a:bodyPr wrap="square" anchor="ctr">
            <a:spAutoFit/>
          </a:bodyPr>
          <a:lstStyle/>
          <a:p>
            <a:pPr algn="l">
              <a:lnSpc>
                <a:spcPct val="100000"/>
              </a:lnSpc>
              <a:buNone/>
            </a:pPr>
            <a:r>
              <a:rPr sz="1600" b="1" i="0">
                <a:solidFill>
                  <a:srgbClr val="FFFFFF"/>
                </a:solidFill>
                <a:latin typeface="Lato"/>
              </a:rPr>
              <a:t>Đèn - 3 chế độ</a:t>
            </a:r>
          </a:p>
        </p:txBody>
      </p:sp>
      <p:sp>
        <p:nvSpPr>
          <p:cNvPr id="5" name="TextBox 4"/>
          <p:cNvSpPr txBox="1"/>
          <p:nvPr/>
        </p:nvSpPr>
        <p:spPr>
          <a:xfrm>
            <a:off x="338736" y="1758844"/>
            <a:ext cx="5557264" cy="4209124"/>
          </a:xfrm>
          <a:prstGeom prst="rect">
            <a:avLst/>
          </a:prstGeom>
          <a:noFill/>
        </p:spPr>
        <p:txBody>
          <a:bodyPr wrap="square" anchor="t">
            <a:spAutoFit/>
          </a:bodyPr>
          <a:lstStyle/>
          <a:p>
            <a:pPr marL="250000" indent="-250000" algn="l">
              <a:lnSpc>
                <a:spcPct val="108000"/>
              </a:lnSpc>
              <a:spcAft>
                <a:spcPts val="1000"/>
              </a:spcAft>
              <a:buFont typeface="Arial"/>
              <a:buChar char="■"/>
            </a:pPr>
            <a:r>
              <a:rPr sz="1500" b="1">
                <a:solidFill>
                  <a:srgbClr val="003366"/>
                </a:solidFill>
                <a:latin typeface="Lato"/>
              </a:rPr>
              <a:t>Thủ công: app gửi lệnh → backend cập nhật DB → publish MQTT</a:t>
            </a:r>
          </a:p>
          <a:p>
            <a:pPr marL="250000" indent="-250000" algn="l">
              <a:lnSpc>
                <a:spcPct val="108000"/>
              </a:lnSpc>
              <a:spcAft>
                <a:spcPts val="1000"/>
              </a:spcAft>
              <a:buFont typeface="Arial"/>
              <a:buChar char="■"/>
            </a:pPr>
            <a:r>
              <a:rPr sz="1500" b="1">
                <a:solidFill>
                  <a:srgbClr val="003366"/>
                </a:solidFill>
                <a:latin typeface="Lato"/>
              </a:rPr>
              <a:t>Hẹn giờ: autoOnTime/autoOffTime, backend quét mỗi 5 giây</a:t>
            </a:r>
          </a:p>
          <a:p>
            <a:pPr marL="250000" indent="-250000" algn="l">
              <a:lnSpc>
                <a:spcPct val="108000"/>
              </a:lnSpc>
              <a:spcAft>
                <a:spcPts val="1000"/>
              </a:spcAft>
              <a:buFont typeface="Arial"/>
              <a:buChar char="■"/>
            </a:pPr>
            <a:r>
              <a:rPr sz="1500" b="1">
                <a:solidFill>
                  <a:srgbClr val="003366"/>
                </a:solidFill>
                <a:latin typeface="Lato"/>
              </a:rPr>
              <a:t>Cảm biến ánh sáng: ESP32 tự quyết định bật/tắt</a:t>
            </a:r>
          </a:p>
          <a:p>
            <a:pPr marL="250000" indent="-250000" algn="l">
              <a:lnSpc>
                <a:spcPct val="108000"/>
              </a:lnSpc>
              <a:spcAft>
                <a:spcPts val="1000"/>
              </a:spcAft>
              <a:buFont typeface="Arial"/>
              <a:buChar char="■"/>
            </a:pPr>
            <a:r>
              <a:rPr sz="1500" b="1">
                <a:solidFill>
                  <a:srgbClr val="003366"/>
                </a:solidFill>
                <a:latin typeface="Lato"/>
              </a:rPr>
              <a:t>manualOverride + lastAutoReason: tránh timer/cảm biến bật/tắt nhầm sau thao tác tay</a:t>
            </a:r>
          </a:p>
        </p:txBody>
      </p:sp>
      <p:sp>
        <p:nvSpPr>
          <p:cNvPr id="6" name="Rounded Rectangle 5"/>
          <p:cNvSpPr/>
          <p:nvPr/>
        </p:nvSpPr>
        <p:spPr>
          <a:xfrm>
            <a:off x="6296000" y="1118844"/>
            <a:ext cx="5557264" cy="500000"/>
          </a:xfrm>
          <a:prstGeom prst="round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96000" y="1118844"/>
            <a:ext cx="5357264" cy="500000"/>
          </a:xfrm>
          <a:prstGeom prst="rect">
            <a:avLst/>
          </a:prstGeom>
          <a:noFill/>
        </p:spPr>
        <p:txBody>
          <a:bodyPr wrap="square" anchor="ctr">
            <a:spAutoFit/>
          </a:bodyPr>
          <a:lstStyle/>
          <a:p>
            <a:pPr algn="l">
              <a:lnSpc>
                <a:spcPct val="100000"/>
              </a:lnSpc>
              <a:buNone/>
            </a:pPr>
            <a:r>
              <a:rPr sz="1600" b="1" i="0">
                <a:solidFill>
                  <a:srgbClr val="FFFFFF"/>
                </a:solidFill>
                <a:latin typeface="Lato"/>
              </a:rPr>
              <a:t>Quạt - 3 chế độ &amp; an toàn</a:t>
            </a:r>
          </a:p>
        </p:txBody>
      </p:sp>
      <p:sp>
        <p:nvSpPr>
          <p:cNvPr id="8" name="TextBox 7"/>
          <p:cNvSpPr txBox="1"/>
          <p:nvPr/>
        </p:nvSpPr>
        <p:spPr>
          <a:xfrm>
            <a:off x="6296000" y="1758844"/>
            <a:ext cx="5557264" cy="4209124"/>
          </a:xfrm>
          <a:prstGeom prst="rect">
            <a:avLst/>
          </a:prstGeom>
          <a:noFill/>
        </p:spPr>
        <p:txBody>
          <a:bodyPr wrap="square" anchor="t">
            <a:spAutoFit/>
          </a:bodyPr>
          <a:lstStyle/>
          <a:p>
            <a:pPr marL="250000" indent="-250000" algn="l">
              <a:lnSpc>
                <a:spcPct val="108000"/>
              </a:lnSpc>
              <a:spcAft>
                <a:spcPts val="1000"/>
              </a:spcAft>
              <a:buFont typeface="Arial"/>
              <a:buChar char="■"/>
            </a:pPr>
            <a:r>
              <a:rPr sz="1500" b="1">
                <a:solidFill>
                  <a:srgbClr val="003366"/>
                </a:solidFill>
                <a:latin typeface="Lato"/>
              </a:rPr>
              <a:t>Thủ công / hẹn giờ: cơ chế tương tự đèn</a:t>
            </a:r>
          </a:p>
          <a:p>
            <a:pPr marL="250000" indent="-250000" algn="l">
              <a:lnSpc>
                <a:spcPct val="108000"/>
              </a:lnSpc>
              <a:spcAft>
                <a:spcPts val="1000"/>
              </a:spcAft>
              <a:buFont typeface="Arial"/>
              <a:buChar char="■"/>
            </a:pPr>
            <a:r>
              <a:rPr sz="1500" b="1">
                <a:solidFill>
                  <a:srgbClr val="003366"/>
                </a:solidFill>
                <a:latin typeface="Lato"/>
              </a:rPr>
              <a:t>Auto cooling: tự bật khi nhiệt độ ≥ ngưỡng và PPM &lt; 900</a:t>
            </a:r>
          </a:p>
          <a:p>
            <a:pPr marL="250000" indent="-250000" algn="l">
              <a:lnSpc>
                <a:spcPct val="108000"/>
              </a:lnSpc>
              <a:spcAft>
                <a:spcPts val="1000"/>
              </a:spcAft>
              <a:buFont typeface="Arial"/>
              <a:buChar char="■"/>
            </a:pPr>
            <a:r>
              <a:rPr sz="1500" b="1">
                <a:solidFill>
                  <a:srgbClr val="003366"/>
                </a:solidFill>
                <a:latin typeface="Lato"/>
              </a:rPr>
              <a:t>An toàn khí gas: PPM &gt; 1100 → backend force tắt quạt bất kể đang bật do đâu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 ưu tiên chống xung đột &amp; cảnh báo cháy</a:t>
            </a:r>
          </a:p>
        </p:txBody>
      </p:sp>
      <p:sp>
        <p:nvSpPr>
          <p:cNvPr id="3" name="TextBox 2"/>
          <p:cNvSpPr txBox="1"/>
          <p:nvPr/>
        </p:nvSpPr>
        <p:spPr>
          <a:xfrm>
            <a:off x="338736" y="1058844"/>
            <a:ext cx="11514528" cy="320000"/>
          </a:xfrm>
          <a:prstGeom prst="rect">
            <a:avLst/>
          </a:prstGeom>
          <a:noFill/>
        </p:spPr>
        <p:txBody>
          <a:bodyPr wrap="square" anchor="t">
            <a:spAutoFit/>
          </a:bodyPr>
          <a:lstStyle/>
          <a:p>
            <a:pPr algn="l">
              <a:lnSpc>
                <a:spcPct val="100000"/>
              </a:lnSpc>
              <a:buNone/>
            </a:pPr>
            <a:r>
              <a:rPr sz="1500" b="1" i="0">
                <a:solidFill>
                  <a:srgbClr val="003366"/>
                </a:solidFill>
                <a:latin typeface="Lato"/>
              </a:rPr>
              <a:t>Thứ tự ưu tiên điều khiển quạt</a:t>
            </a:r>
          </a:p>
        </p:txBody>
      </p:sp>
      <p:sp>
        <p:nvSpPr>
          <p:cNvPr id="4" name="Rounded Rectangle 3"/>
          <p:cNvSpPr/>
          <p:nvPr/>
        </p:nvSpPr>
        <p:spPr>
          <a:xfrm>
            <a:off x="538736" y="1478844"/>
            <a:ext cx="2900000" cy="800000"/>
          </a:xfrm>
          <a:prstGeom prst="round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buNone/>
            </a:pPr>
            <a:r>
              <a:rPr sz="1400" b="1">
                <a:solidFill>
                  <a:srgbClr val="FFFFFF"/>
                </a:solidFill>
                <a:latin typeface="Lato"/>
              </a:rPr>
              <a:t>Gas danger
(PPM &gt; 1100)</a:t>
            </a:r>
          </a:p>
        </p:txBody>
      </p:sp>
      <p:sp>
        <p:nvSpPr>
          <p:cNvPr id="5" name="Right Arrow 4"/>
          <p:cNvSpPr/>
          <p:nvPr/>
        </p:nvSpPr>
        <p:spPr>
          <a:xfrm>
            <a:off x="3438736" y="1728844"/>
            <a:ext cx="300000" cy="300000"/>
          </a:xfrm>
          <a:prstGeom prst="rightArrow">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738736" y="1478844"/>
            <a:ext cx="2900000" cy="800000"/>
          </a:xfrm>
          <a:prstGeom prst="round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buNone/>
            </a:pPr>
            <a:r>
              <a:rPr sz="1400" b="1">
                <a:solidFill>
                  <a:srgbClr val="FFFFFF"/>
                </a:solidFill>
                <a:latin typeface="Lato"/>
              </a:rPr>
              <a:t>Timer / Manual</a:t>
            </a:r>
          </a:p>
        </p:txBody>
      </p:sp>
      <p:sp>
        <p:nvSpPr>
          <p:cNvPr id="7" name="Right Arrow 6"/>
          <p:cNvSpPr/>
          <p:nvPr/>
        </p:nvSpPr>
        <p:spPr>
          <a:xfrm>
            <a:off x="6638736" y="1728844"/>
            <a:ext cx="300000" cy="300000"/>
          </a:xfrm>
          <a:prstGeom prst="rightArrow">
            <a:avLst/>
          </a:prstGeom>
          <a:solidFill>
            <a:srgbClr val="5A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938736" y="1478844"/>
            <a:ext cx="2900000" cy="800000"/>
          </a:xfrm>
          <a:prstGeom prst="round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buNone/>
            </a:pPr>
            <a:r>
              <a:rPr sz="1400" b="1">
                <a:solidFill>
                  <a:srgbClr val="FFFFFF"/>
                </a:solidFill>
                <a:latin typeface="Lato"/>
              </a:rPr>
              <a:t>Auto cooling
(nhiệt độ)</a:t>
            </a:r>
          </a:p>
        </p:txBody>
      </p:sp>
      <p:sp>
        <p:nvSpPr>
          <p:cNvPr id="9" name="TextBox 8"/>
          <p:cNvSpPr txBox="1"/>
          <p:nvPr/>
        </p:nvSpPr>
        <p:spPr>
          <a:xfrm>
            <a:off x="538736" y="2328844"/>
            <a:ext cx="9300000" cy="260000"/>
          </a:xfrm>
          <a:prstGeom prst="rect">
            <a:avLst/>
          </a:prstGeom>
          <a:noFill/>
        </p:spPr>
        <p:txBody>
          <a:bodyPr wrap="square" anchor="t">
            <a:spAutoFit/>
          </a:bodyPr>
          <a:lstStyle/>
          <a:p>
            <a:pPr algn="l">
              <a:lnSpc>
                <a:spcPct val="100000"/>
              </a:lnSpc>
              <a:buNone/>
            </a:pPr>
            <a:r>
              <a:rPr sz="1100" b="0" i="1">
                <a:solidFill>
                  <a:srgbClr val="5A5A5A"/>
                </a:solidFill>
                <a:latin typeface="Lato"/>
              </a:rPr>
              <a:t>Ưu tiên giảm dần →</a:t>
            </a:r>
          </a:p>
        </p:txBody>
      </p:sp>
      <p:sp>
        <p:nvSpPr>
          <p:cNvPr id="10" name="TextBox 9"/>
          <p:cNvSpPr txBox="1"/>
          <p:nvPr/>
        </p:nvSpPr>
        <p:spPr>
          <a:xfrm>
            <a:off x="338736" y="2628844"/>
            <a:ext cx="11514528" cy="900000"/>
          </a:xfrm>
          <a:prstGeom prst="rect">
            <a:avLst/>
          </a:prstGeom>
          <a:noFill/>
        </p:spPr>
        <p:txBody>
          <a:bodyPr wrap="square" anchor="t">
            <a:spAutoFit/>
          </a:bodyPr>
          <a:lstStyle/>
          <a:p>
            <a:pPr marL="250000" indent="-250000" algn="l">
              <a:lnSpc>
                <a:spcPct val="108000"/>
              </a:lnSpc>
              <a:spcAft>
                <a:spcPts val="1000"/>
              </a:spcAft>
              <a:buFont typeface="Arial"/>
              <a:buChar char="■"/>
            </a:pPr>
            <a:r>
              <a:rPr sz="1400" b="1">
                <a:solidFill>
                  <a:srgbClr val="003366"/>
                </a:solidFill>
                <a:latin typeface="Lato"/>
              </a:rPr>
              <a:t>Timer chỉ tự tắt quạt/đèn do chính timer bật (lastAutoReason = timer), tránh tắt nhầm khi người dùng bật tay</a:t>
            </a:r>
          </a:p>
          <a:p>
            <a:pPr marL="250000" indent="-250000" algn="l">
              <a:lnSpc>
                <a:spcPct val="108000"/>
              </a:lnSpc>
              <a:spcAft>
                <a:spcPts val="1000"/>
              </a:spcAft>
              <a:buFont typeface="Arial"/>
              <a:buChar char="■"/>
            </a:pPr>
            <a:r>
              <a:rPr sz="1400" b="1">
                <a:solidFill>
                  <a:srgbClr val="003366"/>
                </a:solidFill>
                <a:latin typeface="Lato"/>
              </a:rPr>
              <a:t>manualOverride ngăn timer bật lại thiết bị vừa bị người dùng tắt thủ công</a:t>
            </a:r>
          </a:p>
        </p:txBody>
      </p:sp>
      <p:sp>
        <p:nvSpPr>
          <p:cNvPr id="11" name="TextBox 10"/>
          <p:cNvSpPr txBox="1"/>
          <p:nvPr/>
        </p:nvSpPr>
        <p:spPr>
          <a:xfrm>
            <a:off x="338736" y="3528844"/>
            <a:ext cx="11514528" cy="320000"/>
          </a:xfrm>
          <a:prstGeom prst="rect">
            <a:avLst/>
          </a:prstGeom>
          <a:noFill/>
        </p:spPr>
        <p:txBody>
          <a:bodyPr wrap="square" anchor="t">
            <a:spAutoFit/>
          </a:bodyPr>
          <a:lstStyle/>
          <a:p>
            <a:pPr algn="l">
              <a:lnSpc>
                <a:spcPct val="100000"/>
              </a:lnSpc>
              <a:buNone/>
            </a:pPr>
            <a:r>
              <a:rPr sz="1500" b="1" i="0">
                <a:solidFill>
                  <a:srgbClr val="003366"/>
                </a:solidFill>
                <a:latin typeface="Lato"/>
              </a:rPr>
              <a:t>Ngưỡng cảnh báo chất lượng không khí (PPM)</a:t>
            </a:r>
          </a:p>
        </p:txBody>
      </p:sp>
      <p:graphicFrame>
        <p:nvGraphicFramePr>
          <p:cNvPr id="12" name="Table 11"/>
          <p:cNvGraphicFramePr>
            <a:graphicFrameLocks noGrp="1"/>
          </p:cNvGraphicFramePr>
          <p:nvPr/>
        </p:nvGraphicFramePr>
        <p:xfrm>
          <a:off x="338736" y="3878844"/>
          <a:ext cx="11514528" cy="1100000"/>
        </p:xfrm>
        <a:graphic>
          <a:graphicData uri="http://schemas.openxmlformats.org/drawingml/2006/table">
            <a:tbl>
              <a:tblPr>
                <a:tableStyleId>{5C22544A-7EE6-4342-B048-85BDC9FD1C3A}</a:tableStyleId>
              </a:tblPr>
              <a:tblGrid>
                <a:gridCol w="5757264">
                  <a:extLst>
                    <a:ext uri="{9D8B030D-6E8A-4147-A177-3AD203B41FA5}">
                      <a16:colId xmlns:a16="http://schemas.microsoft.com/office/drawing/2014/main" val="20000"/>
                    </a:ext>
                  </a:extLst>
                </a:gridCol>
                <a:gridCol w="5757264">
                  <a:extLst>
                    <a:ext uri="{9D8B030D-6E8A-4147-A177-3AD203B41FA5}">
                      <a16:colId xmlns:a16="http://schemas.microsoft.com/office/drawing/2014/main" val="20001"/>
                    </a:ext>
                  </a:extLst>
                </a:gridCol>
              </a:tblGrid>
              <a:tr h="275000">
                <a:tc>
                  <a:txBody>
                    <a:bodyPr/>
                    <a:lstStyle/>
                    <a:p>
                      <a:pPr>
                        <a:buNone/>
                      </a:pPr>
                      <a:r>
                        <a:rPr sz="1300" b="1">
                          <a:solidFill>
                            <a:srgbClr val="FFFFFF"/>
                          </a:solidFill>
                          <a:latin typeface="Lato"/>
                        </a:rPr>
                        <a:t>Điều kiện</a:t>
                      </a:r>
                    </a:p>
                  </a:txBody>
                  <a:tcPr marL="60000" marR="60000" marT="20000" marB="20000" anchor="ctr">
                    <a:solidFill>
                      <a:srgbClr val="003366"/>
                    </a:solidFill>
                  </a:tcPr>
                </a:tc>
                <a:tc>
                  <a:txBody>
                    <a:bodyPr/>
                    <a:lstStyle/>
                    <a:p>
                      <a:pPr>
                        <a:buNone/>
                      </a:pPr>
                      <a:r>
                        <a:rPr sz="1300" b="1">
                          <a:solidFill>
                            <a:srgbClr val="FFFFFF"/>
                          </a:solidFill>
                          <a:latin typeface="Lato"/>
                        </a:rPr>
                        <a:t>Trạng thái</a:t>
                      </a:r>
                    </a:p>
                  </a:txBody>
                  <a:tcPr marL="60000" marR="60000" marT="20000" marB="20000" anchor="ctr">
                    <a:solidFill>
                      <a:srgbClr val="003366"/>
                    </a:solidFill>
                  </a:tcPr>
                </a:tc>
                <a:extLst>
                  <a:ext uri="{0D108BD9-81ED-4DB2-BD59-A6C34878D82A}">
                    <a16:rowId xmlns:a16="http://schemas.microsoft.com/office/drawing/2014/main" val="10000"/>
                  </a:ext>
                </a:extLst>
              </a:tr>
              <a:tr h="275000">
                <a:tc>
                  <a:txBody>
                    <a:bodyPr/>
                    <a:lstStyle/>
                    <a:p>
                      <a:pPr>
                        <a:buNone/>
                      </a:pPr>
                      <a:r>
                        <a:rPr sz="1300" b="1">
                          <a:solidFill>
                            <a:srgbClr val="222222"/>
                          </a:solidFill>
                          <a:latin typeface="Lato"/>
                        </a:rPr>
                        <a:t>PPM &lt; 900</a:t>
                      </a:r>
                    </a:p>
                  </a:txBody>
                  <a:tcPr marL="60000" marR="60000" marT="16000" marB="16000" anchor="ctr">
                    <a:solidFill>
                      <a:srgbClr val="FFFFFF"/>
                    </a:solidFill>
                  </a:tcPr>
                </a:tc>
                <a:tc>
                  <a:txBody>
                    <a:bodyPr/>
                    <a:lstStyle/>
                    <a:p>
                      <a:pPr>
                        <a:buNone/>
                      </a:pPr>
                      <a:r>
                        <a:rPr sz="1300" b="0">
                          <a:solidFill>
                            <a:srgbClr val="222222"/>
                          </a:solidFill>
                          <a:latin typeface="Lato"/>
                        </a:rPr>
                        <a:t>Tốt / an toàn</a:t>
                      </a:r>
                    </a:p>
                  </a:txBody>
                  <a:tcPr marL="60000" marR="60000" marT="16000" marB="16000" anchor="ctr">
                    <a:solidFill>
                      <a:srgbClr val="FFFFFF"/>
                    </a:solidFill>
                  </a:tcPr>
                </a:tc>
                <a:extLst>
                  <a:ext uri="{0D108BD9-81ED-4DB2-BD59-A6C34878D82A}">
                    <a16:rowId xmlns:a16="http://schemas.microsoft.com/office/drawing/2014/main" val="10001"/>
                  </a:ext>
                </a:extLst>
              </a:tr>
              <a:tr h="275000">
                <a:tc>
                  <a:txBody>
                    <a:bodyPr/>
                    <a:lstStyle/>
                    <a:p>
                      <a:pPr>
                        <a:buNone/>
                      </a:pPr>
                      <a:r>
                        <a:rPr sz="1300" b="1">
                          <a:solidFill>
                            <a:srgbClr val="222222"/>
                          </a:solidFill>
                          <a:latin typeface="Lato"/>
                        </a:rPr>
                        <a:t>900 ≤ PPM ≤ 1100</a:t>
                      </a:r>
                    </a:p>
                  </a:txBody>
                  <a:tcPr marL="60000" marR="60000" marT="16000" marB="16000" anchor="ctr">
                    <a:solidFill>
                      <a:srgbClr val="F2F4F7"/>
                    </a:solidFill>
                  </a:tcPr>
                </a:tc>
                <a:tc>
                  <a:txBody>
                    <a:bodyPr/>
                    <a:lstStyle/>
                    <a:p>
                      <a:pPr>
                        <a:buNone/>
                      </a:pPr>
                      <a:r>
                        <a:rPr sz="1300" b="0">
                          <a:solidFill>
                            <a:srgbClr val="222222"/>
                          </a:solidFill>
                          <a:latin typeface="Lato"/>
                        </a:rPr>
                        <a:t>Cảnh báo</a:t>
                      </a:r>
                    </a:p>
                  </a:txBody>
                  <a:tcPr marL="60000" marR="60000" marT="16000" marB="16000" anchor="ctr">
                    <a:solidFill>
                      <a:srgbClr val="F2F4F7"/>
                    </a:solidFill>
                  </a:tcPr>
                </a:tc>
                <a:extLst>
                  <a:ext uri="{0D108BD9-81ED-4DB2-BD59-A6C34878D82A}">
                    <a16:rowId xmlns:a16="http://schemas.microsoft.com/office/drawing/2014/main" val="10002"/>
                  </a:ext>
                </a:extLst>
              </a:tr>
              <a:tr h="275000">
                <a:tc>
                  <a:txBody>
                    <a:bodyPr/>
                    <a:lstStyle/>
                    <a:p>
                      <a:pPr>
                        <a:buNone/>
                      </a:pPr>
                      <a:r>
                        <a:rPr sz="1300" b="1">
                          <a:solidFill>
                            <a:srgbClr val="222222"/>
                          </a:solidFill>
                          <a:latin typeface="Lato"/>
                        </a:rPr>
                        <a:t>PPM &gt; 1100</a:t>
                      </a:r>
                    </a:p>
                  </a:txBody>
                  <a:tcPr marL="60000" marR="60000" marT="16000" marB="16000" anchor="ctr">
                    <a:solidFill>
                      <a:srgbClr val="FFFFFF"/>
                    </a:solidFill>
                  </a:tcPr>
                </a:tc>
                <a:tc>
                  <a:txBody>
                    <a:bodyPr/>
                    <a:lstStyle/>
                    <a:p>
                      <a:pPr>
                        <a:buNone/>
                      </a:pPr>
                      <a:r>
                        <a:rPr sz="1300" b="0">
                          <a:solidFill>
                            <a:srgbClr val="222222"/>
                          </a:solidFill>
                          <a:latin typeface="Lato"/>
                        </a:rPr>
                        <a:t>Nguy hiểm / báo cháy</a:t>
                      </a:r>
                    </a:p>
                  </a:txBody>
                  <a:tcPr marL="60000" marR="60000" marT="16000" marB="16000"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Giao diện mobile app</a:t>
            </a:r>
          </a:p>
        </p:txBody>
      </p:sp>
      <p:pic>
        <p:nvPicPr>
          <p:cNvPr id="3" name="Picture 2" descr="scr_login.png"/>
          <p:cNvPicPr>
            <a:picLocks noChangeAspect="1"/>
          </p:cNvPicPr>
          <p:nvPr/>
        </p:nvPicPr>
        <p:blipFill>
          <a:blip r:embed="rId3"/>
          <a:stretch>
            <a:fillRect/>
          </a:stretch>
        </p:blipFill>
        <p:spPr>
          <a:xfrm>
            <a:off x="1104544" y="1058844"/>
            <a:ext cx="2106559" cy="4559124"/>
          </a:xfrm>
          <a:prstGeom prst="rect">
            <a:avLst/>
          </a:prstGeom>
        </p:spPr>
      </p:pic>
      <p:sp>
        <p:nvSpPr>
          <p:cNvPr id="4" name="TextBox 3"/>
          <p:cNvSpPr txBox="1"/>
          <p:nvPr/>
        </p:nvSpPr>
        <p:spPr>
          <a:xfrm>
            <a:off x="338736" y="5617968"/>
            <a:ext cx="3638176" cy="320000"/>
          </a:xfrm>
          <a:prstGeom prst="rect">
            <a:avLst/>
          </a:prstGeom>
          <a:noFill/>
        </p:spPr>
        <p:txBody>
          <a:bodyPr wrap="square" anchor="t">
            <a:spAutoFit/>
          </a:bodyPr>
          <a:lstStyle/>
          <a:p>
            <a:pPr algn="ctr">
              <a:lnSpc>
                <a:spcPct val="100000"/>
              </a:lnSpc>
              <a:buNone/>
            </a:pPr>
            <a:r>
              <a:rPr sz="1300" b="1" i="0">
                <a:solidFill>
                  <a:srgbClr val="003366"/>
                </a:solidFill>
                <a:latin typeface="Lato"/>
              </a:rPr>
              <a:t>Đăng nhập / Đăng ký</a:t>
            </a:r>
          </a:p>
        </p:txBody>
      </p:sp>
      <p:pic>
        <p:nvPicPr>
          <p:cNvPr id="5" name="Picture 4" descr="scr_dashboard.png"/>
          <p:cNvPicPr>
            <a:picLocks noChangeAspect="1"/>
          </p:cNvPicPr>
          <p:nvPr/>
        </p:nvPicPr>
        <p:blipFill>
          <a:blip r:embed="rId4"/>
          <a:stretch>
            <a:fillRect/>
          </a:stretch>
        </p:blipFill>
        <p:spPr>
          <a:xfrm>
            <a:off x="5042720" y="1058844"/>
            <a:ext cx="2106559" cy="4559124"/>
          </a:xfrm>
          <a:prstGeom prst="rect">
            <a:avLst/>
          </a:prstGeom>
        </p:spPr>
      </p:pic>
      <p:sp>
        <p:nvSpPr>
          <p:cNvPr id="6" name="TextBox 5"/>
          <p:cNvSpPr txBox="1"/>
          <p:nvPr/>
        </p:nvSpPr>
        <p:spPr>
          <a:xfrm>
            <a:off x="4276912" y="5617968"/>
            <a:ext cx="3638176" cy="320000"/>
          </a:xfrm>
          <a:prstGeom prst="rect">
            <a:avLst/>
          </a:prstGeom>
          <a:noFill/>
        </p:spPr>
        <p:txBody>
          <a:bodyPr wrap="square" anchor="t">
            <a:spAutoFit/>
          </a:bodyPr>
          <a:lstStyle/>
          <a:p>
            <a:pPr algn="ctr">
              <a:lnSpc>
                <a:spcPct val="100000"/>
              </a:lnSpc>
              <a:buNone/>
            </a:pPr>
            <a:r>
              <a:rPr sz="1300" b="1" i="0">
                <a:solidFill>
                  <a:srgbClr val="003366"/>
                </a:solidFill>
                <a:latin typeface="Lato"/>
              </a:rPr>
              <a:t>Dashboard</a:t>
            </a:r>
          </a:p>
        </p:txBody>
      </p:sp>
      <p:pic>
        <p:nvPicPr>
          <p:cNvPr id="7" name="Picture 6" descr="scr_timer.png"/>
          <p:cNvPicPr>
            <a:picLocks noChangeAspect="1"/>
          </p:cNvPicPr>
          <p:nvPr/>
        </p:nvPicPr>
        <p:blipFill>
          <a:blip r:embed="rId5"/>
          <a:stretch>
            <a:fillRect/>
          </a:stretch>
        </p:blipFill>
        <p:spPr>
          <a:xfrm>
            <a:off x="8980896" y="1058844"/>
            <a:ext cx="2106559" cy="4559124"/>
          </a:xfrm>
          <a:prstGeom prst="rect">
            <a:avLst/>
          </a:prstGeom>
        </p:spPr>
      </p:pic>
      <p:sp>
        <p:nvSpPr>
          <p:cNvPr id="8" name="TextBox 7"/>
          <p:cNvSpPr txBox="1"/>
          <p:nvPr/>
        </p:nvSpPr>
        <p:spPr>
          <a:xfrm>
            <a:off x="8215088" y="5617968"/>
            <a:ext cx="3638176" cy="320000"/>
          </a:xfrm>
          <a:prstGeom prst="rect">
            <a:avLst/>
          </a:prstGeom>
          <a:noFill/>
        </p:spPr>
        <p:txBody>
          <a:bodyPr wrap="square" anchor="t">
            <a:spAutoFit/>
          </a:bodyPr>
          <a:lstStyle/>
          <a:p>
            <a:pPr algn="ctr">
              <a:lnSpc>
                <a:spcPct val="100000"/>
              </a:lnSpc>
              <a:buNone/>
            </a:pPr>
            <a:r>
              <a:rPr sz="1300" b="1" i="0">
                <a:solidFill>
                  <a:srgbClr val="003366"/>
                </a:solidFill>
                <a:latin typeface="Lato"/>
              </a:rPr>
              <a:t>Hẹn giờ &amp; tự động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00" y="2150000"/>
            <a:ext cx="8000000" cy="500000"/>
          </a:xfrm>
          <a:prstGeom prst="rect">
            <a:avLst/>
          </a:prstGeom>
          <a:noFill/>
        </p:spPr>
        <p:txBody>
          <a:bodyPr wrap="square" anchor="t">
            <a:spAutoFit/>
          </a:bodyPr>
          <a:lstStyle/>
          <a:p>
            <a:pPr algn="l">
              <a:lnSpc>
                <a:spcPct val="100000"/>
              </a:lnSpc>
              <a:buNone/>
            </a:pPr>
            <a:r>
              <a:rPr sz="2000" b="1" i="0">
                <a:solidFill>
                  <a:srgbClr val="C02034"/>
                </a:solidFill>
                <a:latin typeface="Lato"/>
              </a:rPr>
              <a:t>PHẦN 3</a:t>
            </a:r>
          </a:p>
        </p:txBody>
      </p:sp>
      <p:sp>
        <p:nvSpPr>
          <p:cNvPr id="3" name="TextBox 2"/>
          <p:cNvSpPr txBox="1"/>
          <p:nvPr/>
        </p:nvSpPr>
        <p:spPr>
          <a:xfrm>
            <a:off x="620000" y="2650000"/>
            <a:ext cx="9200000" cy="1300000"/>
          </a:xfrm>
          <a:prstGeom prst="rect">
            <a:avLst/>
          </a:prstGeom>
          <a:noFill/>
        </p:spPr>
        <p:txBody>
          <a:bodyPr wrap="square" anchor="t">
            <a:spAutoFit/>
          </a:bodyPr>
          <a:lstStyle/>
          <a:p>
            <a:pPr algn="l">
              <a:lnSpc>
                <a:spcPct val="105000"/>
              </a:lnSpc>
              <a:buNone/>
            </a:pPr>
            <a:r>
              <a:rPr sz="3600" b="1" i="0">
                <a:solidFill>
                  <a:srgbClr val="003366"/>
                </a:solidFill>
                <a:latin typeface="Lato"/>
              </a:rPr>
              <a:t>BẢO MẬT HỆ THỐNG IOT</a:t>
            </a:r>
          </a:p>
        </p:txBody>
      </p:sp>
      <p:sp>
        <p:nvSpPr>
          <p:cNvPr id="4" name="TextBox 3"/>
          <p:cNvSpPr txBox="1"/>
          <p:nvPr/>
        </p:nvSpPr>
        <p:spPr>
          <a:xfrm>
            <a:off x="640000" y="3950000"/>
            <a:ext cx="8800000" cy="700000"/>
          </a:xfrm>
          <a:prstGeom prst="rect">
            <a:avLst/>
          </a:prstGeom>
          <a:noFill/>
        </p:spPr>
        <p:txBody>
          <a:bodyPr wrap="square" anchor="t">
            <a:spAutoFit/>
          </a:bodyPr>
          <a:lstStyle/>
          <a:p>
            <a:pPr algn="l">
              <a:lnSpc>
                <a:spcPct val="100000"/>
              </a:lnSpc>
              <a:buNone/>
            </a:pPr>
            <a:r>
              <a:rPr sz="1600" b="0" i="0">
                <a:solidFill>
                  <a:srgbClr val="5A5A5A"/>
                </a:solidFill>
                <a:latin typeface="Lato"/>
              </a:rPr>
              <a:t>Rủi ro  •  Biện pháp bảo mật đã áp dụng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Tổng quan rủi ro bảo mật</a:t>
            </a:r>
          </a:p>
        </p:txBody>
      </p:sp>
      <p:graphicFrame>
        <p:nvGraphicFramePr>
          <p:cNvPr id="3" name="Table 2"/>
          <p:cNvGraphicFramePr>
            <a:graphicFrameLocks noGrp="1"/>
          </p:cNvGraphicFramePr>
          <p:nvPr/>
        </p:nvGraphicFramePr>
        <p:xfrm>
          <a:off x="338736" y="1118844"/>
          <a:ext cx="11514528" cy="4600000"/>
        </p:xfrm>
        <a:graphic>
          <a:graphicData uri="http://schemas.openxmlformats.org/drawingml/2006/table">
            <a:tbl>
              <a:tblPr>
                <a:tableStyleId>{5C22544A-7EE6-4342-B048-85BDC9FD1C3A}</a:tableStyleId>
              </a:tblPr>
              <a:tblGrid>
                <a:gridCol w="2800000">
                  <a:extLst>
                    <a:ext uri="{9D8B030D-6E8A-4147-A177-3AD203B41FA5}">
                      <a16:colId xmlns:a16="http://schemas.microsoft.com/office/drawing/2014/main" val="20000"/>
                    </a:ext>
                  </a:extLst>
                </a:gridCol>
                <a:gridCol w="4400000">
                  <a:extLst>
                    <a:ext uri="{9D8B030D-6E8A-4147-A177-3AD203B41FA5}">
                      <a16:colId xmlns:a16="http://schemas.microsoft.com/office/drawing/2014/main" val="20001"/>
                    </a:ext>
                  </a:extLst>
                </a:gridCol>
                <a:gridCol w="4314528">
                  <a:extLst>
                    <a:ext uri="{9D8B030D-6E8A-4147-A177-3AD203B41FA5}">
                      <a16:colId xmlns:a16="http://schemas.microsoft.com/office/drawing/2014/main" val="20002"/>
                    </a:ext>
                  </a:extLst>
                </a:gridCol>
              </a:tblGrid>
              <a:tr h="511111">
                <a:tc>
                  <a:txBody>
                    <a:bodyPr/>
                    <a:lstStyle/>
                    <a:p>
                      <a:pPr>
                        <a:buNone/>
                      </a:pPr>
                      <a:r>
                        <a:rPr sz="1300" b="1">
                          <a:solidFill>
                            <a:srgbClr val="FFFFFF"/>
                          </a:solidFill>
                          <a:latin typeface="Lato"/>
                        </a:rPr>
                        <a:t>Rủi ro</a:t>
                      </a:r>
                    </a:p>
                  </a:txBody>
                  <a:tcPr marL="60000" marR="60000" marT="20000" marB="20000" anchor="ctr">
                    <a:solidFill>
                      <a:srgbClr val="003366"/>
                    </a:solidFill>
                  </a:tcPr>
                </a:tc>
                <a:tc>
                  <a:txBody>
                    <a:bodyPr/>
                    <a:lstStyle/>
                    <a:p>
                      <a:pPr>
                        <a:buNone/>
                      </a:pPr>
                      <a:r>
                        <a:rPr sz="1300" b="1">
                          <a:solidFill>
                            <a:srgbClr val="FFFFFF"/>
                          </a:solidFill>
                          <a:latin typeface="Lato"/>
                        </a:rPr>
                        <a:t>Mô tả</a:t>
                      </a:r>
                    </a:p>
                  </a:txBody>
                  <a:tcPr marL="60000" marR="60000" marT="20000" marB="20000" anchor="ctr">
                    <a:solidFill>
                      <a:srgbClr val="003366"/>
                    </a:solidFill>
                  </a:tcPr>
                </a:tc>
                <a:tc>
                  <a:txBody>
                    <a:bodyPr/>
                    <a:lstStyle/>
                    <a:p>
                      <a:pPr>
                        <a:buNone/>
                      </a:pPr>
                      <a:r>
                        <a:rPr sz="1300" b="1">
                          <a:solidFill>
                            <a:srgbClr val="FFFFFF"/>
                          </a:solidFill>
                          <a:latin typeface="Lato"/>
                        </a:rPr>
                        <a:t>Biện pháp áp dụng</a:t>
                      </a:r>
                    </a:p>
                  </a:txBody>
                  <a:tcPr marL="60000" marR="60000" marT="20000" marB="20000" anchor="ctr">
                    <a:solidFill>
                      <a:srgbClr val="003366"/>
                    </a:solidFill>
                  </a:tcPr>
                </a:tc>
                <a:extLst>
                  <a:ext uri="{0D108BD9-81ED-4DB2-BD59-A6C34878D82A}">
                    <a16:rowId xmlns:a16="http://schemas.microsoft.com/office/drawing/2014/main" val="10000"/>
                  </a:ext>
                </a:extLst>
              </a:tr>
              <a:tr h="511111">
                <a:tc>
                  <a:txBody>
                    <a:bodyPr/>
                    <a:lstStyle/>
                    <a:p>
                      <a:pPr>
                        <a:buNone/>
                      </a:pPr>
                      <a:r>
                        <a:rPr sz="1200" b="1">
                          <a:solidFill>
                            <a:srgbClr val="222222"/>
                          </a:solidFill>
                          <a:latin typeface="Lato"/>
                        </a:rPr>
                        <a:t>Gọi API trái phép</a:t>
                      </a:r>
                    </a:p>
                  </a:txBody>
                  <a:tcPr marL="60000" marR="60000" marT="16000" marB="16000" anchor="ctr">
                    <a:solidFill>
                      <a:srgbClr val="FFFFFF"/>
                    </a:solidFill>
                  </a:tcPr>
                </a:tc>
                <a:tc>
                  <a:txBody>
                    <a:bodyPr/>
                    <a:lstStyle/>
                    <a:p>
                      <a:pPr>
                        <a:buNone/>
                      </a:pPr>
                      <a:r>
                        <a:rPr sz="1200" b="0">
                          <a:solidFill>
                            <a:srgbClr val="222222"/>
                          </a:solidFill>
                          <a:latin typeface="Lato"/>
                        </a:rPr>
                        <a:t>Người lạ điều khiển thiết bị</a:t>
                      </a:r>
                    </a:p>
                  </a:txBody>
                  <a:tcPr marL="60000" marR="60000" marT="16000" marB="16000" anchor="ctr">
                    <a:solidFill>
                      <a:srgbClr val="FFFFFF"/>
                    </a:solidFill>
                  </a:tcPr>
                </a:tc>
                <a:tc>
                  <a:txBody>
                    <a:bodyPr/>
                    <a:lstStyle/>
                    <a:p>
                      <a:pPr>
                        <a:buNone/>
                      </a:pPr>
                      <a:r>
                        <a:rPr sz="1200" b="0">
                          <a:solidFill>
                            <a:srgbClr val="222222"/>
                          </a:solidFill>
                          <a:latin typeface="Lato"/>
                        </a:rPr>
                        <a:t>JWT access token</a:t>
                      </a:r>
                    </a:p>
                  </a:txBody>
                  <a:tcPr marL="60000" marR="60000" marT="16000" marB="16000" anchor="ctr">
                    <a:solidFill>
                      <a:srgbClr val="FFFFFF"/>
                    </a:solidFill>
                  </a:tcPr>
                </a:tc>
                <a:extLst>
                  <a:ext uri="{0D108BD9-81ED-4DB2-BD59-A6C34878D82A}">
                    <a16:rowId xmlns:a16="http://schemas.microsoft.com/office/drawing/2014/main" val="10001"/>
                  </a:ext>
                </a:extLst>
              </a:tr>
              <a:tr h="511111">
                <a:tc>
                  <a:txBody>
                    <a:bodyPr/>
                    <a:lstStyle/>
                    <a:p>
                      <a:pPr>
                        <a:buNone/>
                      </a:pPr>
                      <a:r>
                        <a:rPr sz="1200" b="1">
                          <a:solidFill>
                            <a:srgbClr val="222222"/>
                          </a:solidFill>
                          <a:latin typeface="Lato"/>
                        </a:rPr>
                        <a:t>Brute-force login</a:t>
                      </a:r>
                    </a:p>
                  </a:txBody>
                  <a:tcPr marL="60000" marR="60000" marT="16000" marB="16000" anchor="ctr">
                    <a:solidFill>
                      <a:srgbClr val="F2F4F7"/>
                    </a:solidFill>
                  </a:tcPr>
                </a:tc>
                <a:tc>
                  <a:txBody>
                    <a:bodyPr/>
                    <a:lstStyle/>
                    <a:p>
                      <a:pPr>
                        <a:buNone/>
                      </a:pPr>
                      <a:r>
                        <a:rPr sz="1200" b="0">
                          <a:solidFill>
                            <a:srgbClr val="222222"/>
                          </a:solidFill>
                          <a:latin typeface="Lato"/>
                        </a:rPr>
                        <a:t>Thử nhiều mật khẩu</a:t>
                      </a:r>
                    </a:p>
                  </a:txBody>
                  <a:tcPr marL="60000" marR="60000" marT="16000" marB="16000" anchor="ctr">
                    <a:solidFill>
                      <a:srgbClr val="F2F4F7"/>
                    </a:solidFill>
                  </a:tcPr>
                </a:tc>
                <a:tc>
                  <a:txBody>
                    <a:bodyPr/>
                    <a:lstStyle/>
                    <a:p>
                      <a:pPr>
                        <a:buNone/>
                      </a:pPr>
                      <a:r>
                        <a:rPr sz="1200" b="0">
                          <a:solidFill>
                            <a:srgbClr val="222222"/>
                          </a:solidFill>
                          <a:latin typeface="Lato"/>
                        </a:rPr>
                        <a:t>Rate limit login/register</a:t>
                      </a:r>
                    </a:p>
                  </a:txBody>
                  <a:tcPr marL="60000" marR="60000" marT="16000" marB="16000" anchor="ctr">
                    <a:solidFill>
                      <a:srgbClr val="F2F4F7"/>
                    </a:solidFill>
                  </a:tcPr>
                </a:tc>
                <a:extLst>
                  <a:ext uri="{0D108BD9-81ED-4DB2-BD59-A6C34878D82A}">
                    <a16:rowId xmlns:a16="http://schemas.microsoft.com/office/drawing/2014/main" val="10002"/>
                  </a:ext>
                </a:extLst>
              </a:tr>
              <a:tr h="511111">
                <a:tc>
                  <a:txBody>
                    <a:bodyPr/>
                    <a:lstStyle/>
                    <a:p>
                      <a:pPr>
                        <a:buNone/>
                      </a:pPr>
                      <a:r>
                        <a:rPr sz="1200" b="1">
                          <a:solidFill>
                            <a:srgbClr val="222222"/>
                          </a:solidFill>
                          <a:latin typeface="Lato"/>
                        </a:rPr>
                        <a:t>Lộ mật khẩu</a:t>
                      </a:r>
                    </a:p>
                  </a:txBody>
                  <a:tcPr marL="60000" marR="60000" marT="16000" marB="16000" anchor="ctr">
                    <a:solidFill>
                      <a:srgbClr val="FFFFFF"/>
                    </a:solidFill>
                  </a:tcPr>
                </a:tc>
                <a:tc>
                  <a:txBody>
                    <a:bodyPr/>
                    <a:lstStyle/>
                    <a:p>
                      <a:pPr>
                        <a:buNone/>
                      </a:pPr>
                      <a:r>
                        <a:rPr sz="1200" b="0">
                          <a:solidFill>
                            <a:srgbClr val="222222"/>
                          </a:solidFill>
                          <a:latin typeface="Lato"/>
                        </a:rPr>
                        <a:t>Database bị lộ dữ liệu</a:t>
                      </a:r>
                    </a:p>
                  </a:txBody>
                  <a:tcPr marL="60000" marR="60000" marT="16000" marB="16000" anchor="ctr">
                    <a:solidFill>
                      <a:srgbClr val="FFFFFF"/>
                    </a:solidFill>
                  </a:tcPr>
                </a:tc>
                <a:tc>
                  <a:txBody>
                    <a:bodyPr/>
                    <a:lstStyle/>
                    <a:p>
                      <a:pPr>
                        <a:buNone/>
                      </a:pPr>
                      <a:r>
                        <a:rPr sz="1200" b="0">
                          <a:solidFill>
                            <a:srgbClr val="222222"/>
                          </a:solidFill>
                          <a:latin typeface="Lato"/>
                        </a:rPr>
                        <a:t>Hash password bằng scrypt + salt</a:t>
                      </a:r>
                    </a:p>
                  </a:txBody>
                  <a:tcPr marL="60000" marR="60000" marT="16000" marB="16000" anchor="ctr">
                    <a:solidFill>
                      <a:srgbClr val="FFFFFF"/>
                    </a:solidFill>
                  </a:tcPr>
                </a:tc>
                <a:extLst>
                  <a:ext uri="{0D108BD9-81ED-4DB2-BD59-A6C34878D82A}">
                    <a16:rowId xmlns:a16="http://schemas.microsoft.com/office/drawing/2014/main" val="10003"/>
                  </a:ext>
                </a:extLst>
              </a:tr>
              <a:tr h="511111">
                <a:tc>
                  <a:txBody>
                    <a:bodyPr/>
                    <a:lstStyle/>
                    <a:p>
                      <a:pPr>
                        <a:buNone/>
                      </a:pPr>
                      <a:r>
                        <a:rPr sz="1200" b="1">
                          <a:solidFill>
                            <a:srgbClr val="222222"/>
                          </a:solidFill>
                          <a:latin typeface="Lato"/>
                        </a:rPr>
                        <a:t>Token bị đánh cắp</a:t>
                      </a:r>
                    </a:p>
                  </a:txBody>
                  <a:tcPr marL="60000" marR="60000" marT="16000" marB="16000" anchor="ctr">
                    <a:solidFill>
                      <a:srgbClr val="F2F4F7"/>
                    </a:solidFill>
                  </a:tcPr>
                </a:tc>
                <a:tc>
                  <a:txBody>
                    <a:bodyPr/>
                    <a:lstStyle/>
                    <a:p>
                      <a:pPr>
                        <a:buNone/>
                      </a:pPr>
                      <a:r>
                        <a:rPr sz="1200" b="0">
                          <a:solidFill>
                            <a:srgbClr val="222222"/>
                          </a:solidFill>
                          <a:latin typeface="Lato"/>
                        </a:rPr>
                        <a:t>Access token bị lạm dụng</a:t>
                      </a:r>
                    </a:p>
                  </a:txBody>
                  <a:tcPr marL="60000" marR="60000" marT="16000" marB="16000" anchor="ctr">
                    <a:solidFill>
                      <a:srgbClr val="F2F4F7"/>
                    </a:solidFill>
                  </a:tcPr>
                </a:tc>
                <a:tc>
                  <a:txBody>
                    <a:bodyPr/>
                    <a:lstStyle/>
                    <a:p>
                      <a:pPr>
                        <a:buNone/>
                      </a:pPr>
                      <a:r>
                        <a:rPr sz="1200" b="0">
                          <a:solidFill>
                            <a:srgbClr val="222222"/>
                          </a:solidFill>
                          <a:latin typeface="Lato"/>
                        </a:rPr>
                        <a:t>Access token ngắn hạn + refresh token</a:t>
                      </a:r>
                    </a:p>
                  </a:txBody>
                  <a:tcPr marL="60000" marR="60000" marT="16000" marB="16000" anchor="ctr">
                    <a:solidFill>
                      <a:srgbClr val="F2F4F7"/>
                    </a:solidFill>
                  </a:tcPr>
                </a:tc>
                <a:extLst>
                  <a:ext uri="{0D108BD9-81ED-4DB2-BD59-A6C34878D82A}">
                    <a16:rowId xmlns:a16="http://schemas.microsoft.com/office/drawing/2014/main" val="10004"/>
                  </a:ext>
                </a:extLst>
              </a:tr>
              <a:tr h="511111">
                <a:tc>
                  <a:txBody>
                    <a:bodyPr/>
                    <a:lstStyle/>
                    <a:p>
                      <a:pPr>
                        <a:buNone/>
                      </a:pPr>
                      <a:r>
                        <a:rPr sz="1200" b="1">
                          <a:solidFill>
                            <a:srgbClr val="222222"/>
                          </a:solidFill>
                          <a:latin typeface="Lato"/>
                        </a:rPr>
                        <a:t>NoSQL injection</a:t>
                      </a:r>
                    </a:p>
                  </a:txBody>
                  <a:tcPr marL="60000" marR="60000" marT="16000" marB="16000" anchor="ctr">
                    <a:solidFill>
                      <a:srgbClr val="FFFFFF"/>
                    </a:solidFill>
                  </a:tcPr>
                </a:tc>
                <a:tc>
                  <a:txBody>
                    <a:bodyPr/>
                    <a:lstStyle/>
                    <a:p>
                      <a:pPr>
                        <a:buNone/>
                      </a:pPr>
                      <a:r>
                        <a:rPr sz="1200" b="0">
                          <a:solidFill>
                            <a:srgbClr val="222222"/>
                          </a:solidFill>
                          <a:latin typeface="Lato"/>
                        </a:rPr>
                        <a:t>Payload object độc hại</a:t>
                      </a:r>
                    </a:p>
                  </a:txBody>
                  <a:tcPr marL="60000" marR="60000" marT="16000" marB="16000" anchor="ctr">
                    <a:solidFill>
                      <a:srgbClr val="FFFFFF"/>
                    </a:solidFill>
                  </a:tcPr>
                </a:tc>
                <a:tc>
                  <a:txBody>
                    <a:bodyPr/>
                    <a:lstStyle/>
                    <a:p>
                      <a:pPr>
                        <a:buNone/>
                      </a:pPr>
                      <a:r>
                        <a:rPr sz="1200" b="0">
                          <a:solidFill>
                            <a:srgbClr val="222222"/>
                          </a:solidFill>
                          <a:latin typeface="Lato"/>
                        </a:rPr>
                        <a:t>Validate input strict</a:t>
                      </a:r>
                    </a:p>
                  </a:txBody>
                  <a:tcPr marL="60000" marR="60000" marT="16000" marB="16000" anchor="ctr">
                    <a:solidFill>
                      <a:srgbClr val="FFFFFF"/>
                    </a:solidFill>
                  </a:tcPr>
                </a:tc>
                <a:extLst>
                  <a:ext uri="{0D108BD9-81ED-4DB2-BD59-A6C34878D82A}">
                    <a16:rowId xmlns:a16="http://schemas.microsoft.com/office/drawing/2014/main" val="10005"/>
                  </a:ext>
                </a:extLst>
              </a:tr>
              <a:tr h="511111">
                <a:tc>
                  <a:txBody>
                    <a:bodyPr/>
                    <a:lstStyle/>
                    <a:p>
                      <a:pPr>
                        <a:buNone/>
                      </a:pPr>
                      <a:r>
                        <a:rPr sz="1200" b="1">
                          <a:solidFill>
                            <a:srgbClr val="222222"/>
                          </a:solidFill>
                          <a:latin typeface="Lato"/>
                        </a:rPr>
                        <a:t>Nghe lén MQTT</a:t>
                      </a:r>
                    </a:p>
                  </a:txBody>
                  <a:tcPr marL="60000" marR="60000" marT="16000" marB="16000" anchor="ctr">
                    <a:solidFill>
                      <a:srgbClr val="F2F4F7"/>
                    </a:solidFill>
                  </a:tcPr>
                </a:tc>
                <a:tc>
                  <a:txBody>
                    <a:bodyPr/>
                    <a:lstStyle/>
                    <a:p>
                      <a:pPr>
                        <a:buNone/>
                      </a:pPr>
                      <a:r>
                        <a:rPr sz="1200" b="0">
                          <a:solidFill>
                            <a:srgbClr val="222222"/>
                          </a:solidFill>
                          <a:latin typeface="Lato"/>
                        </a:rPr>
                        <a:t>Lộ dữ liệu cảm biến/lệnh điều khiển</a:t>
                      </a:r>
                    </a:p>
                  </a:txBody>
                  <a:tcPr marL="60000" marR="60000" marT="16000" marB="16000" anchor="ctr">
                    <a:solidFill>
                      <a:srgbClr val="F2F4F7"/>
                    </a:solidFill>
                  </a:tcPr>
                </a:tc>
                <a:tc>
                  <a:txBody>
                    <a:bodyPr/>
                    <a:lstStyle/>
                    <a:p>
                      <a:pPr>
                        <a:buNone/>
                      </a:pPr>
                      <a:r>
                        <a:rPr sz="1200" b="0">
                          <a:solidFill>
                            <a:srgbClr val="222222"/>
                          </a:solidFill>
                          <a:latin typeface="Lato"/>
                        </a:rPr>
                        <a:t>MQTT over TLS</a:t>
                      </a:r>
                    </a:p>
                  </a:txBody>
                  <a:tcPr marL="60000" marR="60000" marT="16000" marB="16000" anchor="ctr">
                    <a:solidFill>
                      <a:srgbClr val="F2F4F7"/>
                    </a:solidFill>
                  </a:tcPr>
                </a:tc>
                <a:extLst>
                  <a:ext uri="{0D108BD9-81ED-4DB2-BD59-A6C34878D82A}">
                    <a16:rowId xmlns:a16="http://schemas.microsoft.com/office/drawing/2014/main" val="10006"/>
                  </a:ext>
                </a:extLst>
              </a:tr>
              <a:tr h="511111">
                <a:tc>
                  <a:txBody>
                    <a:bodyPr/>
                    <a:lstStyle/>
                    <a:p>
                      <a:pPr>
                        <a:buNone/>
                      </a:pPr>
                      <a:r>
                        <a:rPr sz="1200" b="1">
                          <a:solidFill>
                            <a:srgbClr val="222222"/>
                          </a:solidFill>
                          <a:latin typeface="Lato"/>
                        </a:rPr>
                        <a:t>Client publish sai topic</a:t>
                      </a:r>
                    </a:p>
                  </a:txBody>
                  <a:tcPr marL="60000" marR="60000" marT="16000" marB="16000" anchor="ctr">
                    <a:solidFill>
                      <a:srgbClr val="FFFFFF"/>
                    </a:solidFill>
                  </a:tcPr>
                </a:tc>
                <a:tc>
                  <a:txBody>
                    <a:bodyPr/>
                    <a:lstStyle/>
                    <a:p>
                      <a:pPr>
                        <a:buNone/>
                      </a:pPr>
                      <a:r>
                        <a:rPr sz="1200" b="0">
                          <a:solidFill>
                            <a:srgbClr val="222222"/>
                          </a:solidFill>
                          <a:latin typeface="Lato"/>
                        </a:rPr>
                        <a:t>Điều khiển sai thiết bị</a:t>
                      </a:r>
                    </a:p>
                  </a:txBody>
                  <a:tcPr marL="60000" marR="60000" marT="16000" marB="16000" anchor="ctr">
                    <a:solidFill>
                      <a:srgbClr val="FFFFFF"/>
                    </a:solidFill>
                  </a:tcPr>
                </a:tc>
                <a:tc>
                  <a:txBody>
                    <a:bodyPr/>
                    <a:lstStyle/>
                    <a:p>
                      <a:pPr>
                        <a:buNone/>
                      </a:pPr>
                      <a:r>
                        <a:rPr sz="1200" b="0">
                          <a:solidFill>
                            <a:srgbClr val="222222"/>
                          </a:solidFill>
                          <a:latin typeface="Lato"/>
                        </a:rPr>
                        <a:t>Đề xuất / áp dụng MQTT ACL</a:t>
                      </a:r>
                    </a:p>
                  </a:txBody>
                  <a:tcPr marL="60000" marR="60000" marT="16000" marB="16000" anchor="ctr">
                    <a:solidFill>
                      <a:srgbClr val="FFFFFF"/>
                    </a:solidFill>
                  </a:tcPr>
                </a:tc>
                <a:extLst>
                  <a:ext uri="{0D108BD9-81ED-4DB2-BD59-A6C34878D82A}">
                    <a16:rowId xmlns:a16="http://schemas.microsoft.com/office/drawing/2014/main" val="10007"/>
                  </a:ext>
                </a:extLst>
              </a:tr>
              <a:tr h="511112">
                <a:tc>
                  <a:txBody>
                    <a:bodyPr/>
                    <a:lstStyle/>
                    <a:p>
                      <a:pPr>
                        <a:buNone/>
                      </a:pPr>
                      <a:r>
                        <a:rPr sz="1200" b="1">
                          <a:solidFill>
                            <a:srgbClr val="222222"/>
                          </a:solidFill>
                          <a:latin typeface="Lato"/>
                        </a:rPr>
                        <a:t>Logic tự động nguy hiểm</a:t>
                      </a:r>
                    </a:p>
                  </a:txBody>
                  <a:tcPr marL="60000" marR="60000" marT="16000" marB="16000" anchor="ctr">
                    <a:solidFill>
                      <a:srgbClr val="F2F4F7"/>
                    </a:solidFill>
                  </a:tcPr>
                </a:tc>
                <a:tc>
                  <a:txBody>
                    <a:bodyPr/>
                    <a:lstStyle/>
                    <a:p>
                      <a:pPr>
                        <a:buNone/>
                      </a:pPr>
                      <a:r>
                        <a:rPr sz="1200" b="0">
                          <a:solidFill>
                            <a:srgbClr val="222222"/>
                          </a:solidFill>
                          <a:latin typeface="Lato"/>
                        </a:rPr>
                        <a:t>Quạt chạy khi gas nguy hiểm</a:t>
                      </a:r>
                    </a:p>
                  </a:txBody>
                  <a:tcPr marL="60000" marR="60000" marT="16000" marB="16000" anchor="ctr">
                    <a:solidFill>
                      <a:srgbClr val="F2F4F7"/>
                    </a:solidFill>
                  </a:tcPr>
                </a:tc>
                <a:tc>
                  <a:txBody>
                    <a:bodyPr/>
                    <a:lstStyle/>
                    <a:p>
                      <a:pPr>
                        <a:buNone/>
                      </a:pPr>
                      <a:r>
                        <a:rPr sz="1200" b="0">
                          <a:solidFill>
                            <a:srgbClr val="222222"/>
                          </a:solidFill>
                          <a:latin typeface="Lato"/>
                        </a:rPr>
                        <a:t>Gas danger priority</a:t>
                      </a:r>
                    </a:p>
                  </a:txBody>
                  <a:tcPr marL="60000" marR="60000" marT="16000" marB="16000" anchor="ctr">
                    <a:solidFill>
                      <a:srgbClr val="F2F4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Các biện pháp bảo mật đã áp dụng</a:t>
            </a:r>
          </a:p>
        </p:txBody>
      </p:sp>
      <p:sp>
        <p:nvSpPr>
          <p:cNvPr id="3" name="Rounded Rectangle 2"/>
          <p:cNvSpPr/>
          <p:nvPr/>
        </p:nvSpPr>
        <p:spPr>
          <a:xfrm>
            <a:off x="338736" y="1118844"/>
            <a:ext cx="3638176" cy="460000"/>
          </a:xfrm>
          <a:prstGeom prst="round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8736" y="1118844"/>
            <a:ext cx="3478176" cy="460000"/>
          </a:xfrm>
          <a:prstGeom prst="rect">
            <a:avLst/>
          </a:prstGeom>
          <a:noFill/>
        </p:spPr>
        <p:txBody>
          <a:bodyPr wrap="square" anchor="ctr">
            <a:spAutoFit/>
          </a:bodyPr>
          <a:lstStyle/>
          <a:p>
            <a:pPr algn="l">
              <a:lnSpc>
                <a:spcPct val="100000"/>
              </a:lnSpc>
              <a:buNone/>
            </a:pPr>
            <a:r>
              <a:rPr sz="1400" b="1" i="0">
                <a:solidFill>
                  <a:srgbClr val="FFFFFF"/>
                </a:solidFill>
                <a:latin typeface="Lato"/>
              </a:rPr>
              <a:t>Xác thực &amp; API</a:t>
            </a:r>
          </a:p>
        </p:txBody>
      </p:sp>
      <p:sp>
        <p:nvSpPr>
          <p:cNvPr id="5" name="TextBox 4"/>
          <p:cNvSpPr txBox="1"/>
          <p:nvPr/>
        </p:nvSpPr>
        <p:spPr>
          <a:xfrm>
            <a:off x="338736" y="1678844"/>
            <a:ext cx="3638176" cy="4289124"/>
          </a:xfrm>
          <a:prstGeom prst="rect">
            <a:avLst/>
          </a:prstGeom>
          <a:noFill/>
        </p:spPr>
        <p:txBody>
          <a:bodyPr wrap="square" anchor="t">
            <a:spAutoFit/>
          </a:bodyPr>
          <a:lstStyle/>
          <a:p>
            <a:pPr marL="250000" indent="-250000" algn="l">
              <a:lnSpc>
                <a:spcPct val="108000"/>
              </a:lnSpc>
              <a:spcAft>
                <a:spcPts val="1000"/>
              </a:spcAft>
              <a:buFont typeface="Arial"/>
              <a:buChar char="■"/>
            </a:pPr>
            <a:r>
              <a:rPr sz="1300" b="1">
                <a:solidFill>
                  <a:srgbClr val="003366"/>
                </a:solidFill>
                <a:latin typeface="Lato"/>
              </a:rPr>
              <a:t>JWT access token, kiểm tra qua header Authorization: Bearer &lt;token&gt;</a:t>
            </a:r>
          </a:p>
          <a:p>
            <a:pPr marL="250000" indent="-250000" algn="l">
              <a:lnSpc>
                <a:spcPct val="108000"/>
              </a:lnSpc>
              <a:spcAft>
                <a:spcPts val="1000"/>
              </a:spcAft>
              <a:buFont typeface="Arial"/>
              <a:buChar char="■"/>
            </a:pPr>
            <a:r>
              <a:rPr sz="1300" b="1">
                <a:solidFill>
                  <a:srgbClr val="003366"/>
                </a:solidFill>
                <a:latin typeface="Lato"/>
              </a:rPr>
              <a:t>Middleware xác thực đặt trước toàn bộ API nghiệp vụ</a:t>
            </a:r>
          </a:p>
          <a:p>
            <a:pPr marL="250000" indent="-250000" algn="l">
              <a:lnSpc>
                <a:spcPct val="108000"/>
              </a:lnSpc>
              <a:spcAft>
                <a:spcPts val="1000"/>
              </a:spcAft>
              <a:buFont typeface="Arial"/>
              <a:buChar char="■"/>
            </a:pPr>
            <a:r>
              <a:rPr sz="1300" b="1">
                <a:solidFill>
                  <a:srgbClr val="003366"/>
                </a:solidFill>
                <a:latin typeface="Lato"/>
              </a:rPr>
              <a:t>Refresh token lưu hash trong DB, rotate sau mỗi lần dùng</a:t>
            </a:r>
          </a:p>
          <a:p>
            <a:pPr marL="250000" indent="-250000" algn="l">
              <a:lnSpc>
                <a:spcPct val="108000"/>
              </a:lnSpc>
              <a:spcAft>
                <a:spcPts val="1000"/>
              </a:spcAft>
              <a:buFont typeface="Arial"/>
              <a:buChar char="■"/>
            </a:pPr>
            <a:r>
              <a:rPr sz="1300" b="1">
                <a:solidFill>
                  <a:srgbClr val="003366"/>
                </a:solidFill>
                <a:latin typeface="Lato"/>
              </a:rPr>
              <a:t>Rate limit login/register theo IP + username</a:t>
            </a:r>
          </a:p>
        </p:txBody>
      </p:sp>
      <p:sp>
        <p:nvSpPr>
          <p:cNvPr id="6" name="Rounded Rectangle 5"/>
          <p:cNvSpPr/>
          <p:nvPr/>
        </p:nvSpPr>
        <p:spPr>
          <a:xfrm>
            <a:off x="4276912" y="1118844"/>
            <a:ext cx="3638176" cy="460000"/>
          </a:xfrm>
          <a:prstGeom prst="round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56912" y="1118844"/>
            <a:ext cx="3478176" cy="460000"/>
          </a:xfrm>
          <a:prstGeom prst="rect">
            <a:avLst/>
          </a:prstGeom>
          <a:noFill/>
        </p:spPr>
        <p:txBody>
          <a:bodyPr wrap="square" anchor="ctr">
            <a:spAutoFit/>
          </a:bodyPr>
          <a:lstStyle/>
          <a:p>
            <a:pPr algn="l">
              <a:lnSpc>
                <a:spcPct val="100000"/>
              </a:lnSpc>
              <a:buNone/>
            </a:pPr>
            <a:r>
              <a:rPr sz="1400" b="1" i="0">
                <a:solidFill>
                  <a:srgbClr val="FFFFFF"/>
                </a:solidFill>
                <a:latin typeface="Lato"/>
              </a:rPr>
              <a:t>Chống injection &amp; cấu hình</a:t>
            </a:r>
          </a:p>
        </p:txBody>
      </p:sp>
      <p:sp>
        <p:nvSpPr>
          <p:cNvPr id="8" name="TextBox 7"/>
          <p:cNvSpPr txBox="1"/>
          <p:nvPr/>
        </p:nvSpPr>
        <p:spPr>
          <a:xfrm>
            <a:off x="4276912" y="1678844"/>
            <a:ext cx="3638176" cy="4289124"/>
          </a:xfrm>
          <a:prstGeom prst="rect">
            <a:avLst/>
          </a:prstGeom>
          <a:noFill/>
        </p:spPr>
        <p:txBody>
          <a:bodyPr wrap="square" anchor="t">
            <a:spAutoFit/>
          </a:bodyPr>
          <a:lstStyle/>
          <a:p>
            <a:pPr marL="250000" indent="-250000" algn="l">
              <a:lnSpc>
                <a:spcPct val="108000"/>
              </a:lnSpc>
              <a:spcAft>
                <a:spcPts val="1000"/>
              </a:spcAft>
              <a:buFont typeface="Arial"/>
              <a:buChar char="■"/>
            </a:pPr>
            <a:r>
              <a:rPr sz="1300" b="1">
                <a:solidFill>
                  <a:srgbClr val="003366"/>
                </a:solidFill>
                <a:latin typeface="Lato"/>
              </a:rPr>
              <a:t>Mật khẩu hash bằng scrypt kèm salt</a:t>
            </a:r>
          </a:p>
          <a:p>
            <a:pPr marL="250000" indent="-250000" algn="l">
              <a:lnSpc>
                <a:spcPct val="108000"/>
              </a:lnSpc>
              <a:spcAft>
                <a:spcPts val="1000"/>
              </a:spcAft>
              <a:buFont typeface="Arial"/>
              <a:buChar char="■"/>
            </a:pPr>
            <a:r>
              <a:rPr sz="1300" b="1">
                <a:solidFill>
                  <a:srgbClr val="003366"/>
                </a:solidFill>
                <a:latin typeface="Lato"/>
              </a:rPr>
              <a:t>Validate input nghiêm ngặt, chặn payload NoSQL injection kiểu { "$ne": null }</a:t>
            </a:r>
          </a:p>
          <a:p>
            <a:pPr marL="250000" indent="-250000" algn="l">
              <a:lnSpc>
                <a:spcPct val="108000"/>
              </a:lnSpc>
              <a:spcAft>
                <a:spcPts val="1000"/>
              </a:spcAft>
              <a:buFont typeface="Arial"/>
              <a:buChar char="■"/>
            </a:pPr>
            <a:r>
              <a:rPr sz="1300" b="1">
                <a:solidFill>
                  <a:srgbClr val="003366"/>
                </a:solidFill>
                <a:latin typeface="Lato"/>
              </a:rPr>
              <a:t>Secret (MONGO_URI, JWT_SECRET, MQTT...) đưa vào biến môi trường, .gitignore riêng từng project</a:t>
            </a:r>
          </a:p>
        </p:txBody>
      </p:sp>
      <p:sp>
        <p:nvSpPr>
          <p:cNvPr id="9" name="Rounded Rectangle 8"/>
          <p:cNvSpPr/>
          <p:nvPr/>
        </p:nvSpPr>
        <p:spPr>
          <a:xfrm>
            <a:off x="8215088" y="1118844"/>
            <a:ext cx="3638176" cy="460000"/>
          </a:xfrm>
          <a:prstGeom prst="round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95088" y="1118844"/>
            <a:ext cx="3478176" cy="460000"/>
          </a:xfrm>
          <a:prstGeom prst="rect">
            <a:avLst/>
          </a:prstGeom>
          <a:noFill/>
        </p:spPr>
        <p:txBody>
          <a:bodyPr wrap="square" anchor="ctr">
            <a:spAutoFit/>
          </a:bodyPr>
          <a:lstStyle/>
          <a:p>
            <a:pPr algn="l">
              <a:lnSpc>
                <a:spcPct val="100000"/>
              </a:lnSpc>
              <a:buNone/>
            </a:pPr>
            <a:r>
              <a:rPr sz="1400" b="1" i="0">
                <a:solidFill>
                  <a:srgbClr val="FFFFFF"/>
                </a:solidFill>
                <a:latin typeface="Lato"/>
              </a:rPr>
              <a:t>Bảo mật kênh MQTT</a:t>
            </a:r>
          </a:p>
        </p:txBody>
      </p:sp>
      <p:sp>
        <p:nvSpPr>
          <p:cNvPr id="11" name="TextBox 10"/>
          <p:cNvSpPr txBox="1"/>
          <p:nvPr/>
        </p:nvSpPr>
        <p:spPr>
          <a:xfrm>
            <a:off x="8215088" y="1678844"/>
            <a:ext cx="3638176" cy="4289124"/>
          </a:xfrm>
          <a:prstGeom prst="rect">
            <a:avLst/>
          </a:prstGeom>
          <a:noFill/>
        </p:spPr>
        <p:txBody>
          <a:bodyPr wrap="square" anchor="t">
            <a:spAutoFit/>
          </a:bodyPr>
          <a:lstStyle/>
          <a:p>
            <a:pPr marL="250000" indent="-250000" algn="l">
              <a:lnSpc>
                <a:spcPct val="108000"/>
              </a:lnSpc>
              <a:spcAft>
                <a:spcPts val="1000"/>
              </a:spcAft>
              <a:buFont typeface="Arial"/>
              <a:buChar char="■"/>
            </a:pPr>
            <a:r>
              <a:rPr sz="1300" b="1">
                <a:solidFill>
                  <a:srgbClr val="003366"/>
                </a:solidFill>
                <a:latin typeface="Lato"/>
              </a:rPr>
              <a:t>Kết nối broker qua mqtts:// (MQTT over TLS)</a:t>
            </a:r>
          </a:p>
          <a:p>
            <a:pPr marL="250000" indent="-250000" algn="l">
              <a:lnSpc>
                <a:spcPct val="108000"/>
              </a:lnSpc>
              <a:spcAft>
                <a:spcPts val="1000"/>
              </a:spcAft>
              <a:buFont typeface="Arial"/>
              <a:buChar char="■"/>
            </a:pPr>
            <a:r>
              <a:rPr sz="1300" b="1">
                <a:solidFill>
                  <a:srgbClr val="003366"/>
                </a:solidFill>
                <a:latin typeface="Lato"/>
              </a:rPr>
              <a:t>Backend và ESP32 dùng username/password riêng, không chung credential</a:t>
            </a:r>
          </a:p>
          <a:p>
            <a:pPr marL="250000" indent="-250000" algn="l">
              <a:lnSpc>
                <a:spcPct val="108000"/>
              </a:lnSpc>
              <a:spcAft>
                <a:spcPts val="1000"/>
              </a:spcAft>
              <a:buFont typeface="Arial"/>
              <a:buChar char="■"/>
            </a:pPr>
            <a:r>
              <a:rPr sz="1300" b="1">
                <a:solidFill>
                  <a:srgbClr val="003366"/>
                </a:solidFill>
                <a:latin typeface="Lato"/>
              </a:rPr>
              <a:t>Không dùng wildcard # - ACL giới hạn theo nhóm topic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Kết quả đạt được</a:t>
            </a:r>
          </a:p>
        </p:txBody>
      </p:sp>
      <p:sp>
        <p:nvSpPr>
          <p:cNvPr id="3" name="TextBox 2"/>
          <p:cNvSpPr txBox="1"/>
          <p:nvPr/>
        </p:nvSpPr>
        <p:spPr>
          <a:xfrm>
            <a:off x="338736" y="1158844"/>
            <a:ext cx="5607264" cy="4909124"/>
          </a:xfrm>
          <a:prstGeom prst="rect">
            <a:avLst/>
          </a:prstGeom>
          <a:noFill/>
        </p:spPr>
        <p:txBody>
          <a:bodyPr wrap="square" anchor="t">
            <a:spAutoFit/>
          </a:bodyPr>
          <a:lstStyle/>
          <a:p>
            <a:pPr marL="250000" indent="-250000" algn="l">
              <a:lnSpc>
                <a:spcPct val="108000"/>
              </a:lnSpc>
              <a:spcAft>
                <a:spcPts val="1000"/>
              </a:spcAft>
              <a:buFont typeface="Arial"/>
              <a:buChar char="■"/>
            </a:pPr>
            <a:r>
              <a:rPr sz="1500" b="1">
                <a:solidFill>
                  <a:srgbClr val="003366"/>
                </a:solidFill>
                <a:latin typeface="Lato"/>
              </a:rPr>
              <a:t>Kiến trúc tổng quan hệ thống IoT smart home</a:t>
            </a:r>
          </a:p>
          <a:p>
            <a:pPr marL="250000" indent="-250000" algn="l">
              <a:lnSpc>
                <a:spcPct val="108000"/>
              </a:lnSpc>
              <a:spcAft>
                <a:spcPts val="1000"/>
              </a:spcAft>
              <a:buFont typeface="Arial"/>
              <a:buChar char="■"/>
            </a:pPr>
            <a:r>
              <a:rPr sz="1500" b="1">
                <a:solidFill>
                  <a:srgbClr val="003366"/>
                </a:solidFill>
                <a:latin typeface="Lato"/>
              </a:rPr>
              <a:t>Backend Node.js/Express hoàn chỉnh</a:t>
            </a:r>
          </a:p>
          <a:p>
            <a:pPr marL="250000" indent="-250000" algn="l">
              <a:lnSpc>
                <a:spcPct val="108000"/>
              </a:lnSpc>
              <a:spcAft>
                <a:spcPts val="1000"/>
              </a:spcAft>
              <a:buFont typeface="Arial"/>
              <a:buChar char="■"/>
            </a:pPr>
            <a:r>
              <a:rPr sz="1500" b="1">
                <a:solidFill>
                  <a:srgbClr val="003366"/>
                </a:solidFill>
                <a:latin typeface="Lato"/>
              </a:rPr>
              <a:t>Mobile app bằng React Native</a:t>
            </a:r>
          </a:p>
          <a:p>
            <a:pPr marL="250000" indent="-250000" algn="l">
              <a:lnSpc>
                <a:spcPct val="108000"/>
              </a:lnSpc>
              <a:spcAft>
                <a:spcPts val="1000"/>
              </a:spcAft>
              <a:buFont typeface="Arial"/>
              <a:buChar char="■"/>
            </a:pPr>
            <a:r>
              <a:rPr sz="1500" b="1">
                <a:solidFill>
                  <a:srgbClr val="003366"/>
                </a:solidFill>
                <a:latin typeface="Lato"/>
              </a:rPr>
              <a:t>Kết nối MQTT broker cloud EMQX (TLS)</a:t>
            </a:r>
          </a:p>
          <a:p>
            <a:pPr marL="250000" indent="-250000" algn="l">
              <a:lnSpc>
                <a:spcPct val="108000"/>
              </a:lnSpc>
              <a:spcAft>
                <a:spcPts val="1000"/>
              </a:spcAft>
              <a:buFont typeface="Arial"/>
              <a:buChar char="■"/>
            </a:pPr>
            <a:r>
              <a:rPr sz="1500" b="1">
                <a:solidFill>
                  <a:srgbClr val="003366"/>
                </a:solidFill>
                <a:latin typeface="Lato"/>
              </a:rPr>
              <a:t>ESP32 gửi dữ liệu &amp; nhận lệnh điều khiển</a:t>
            </a:r>
          </a:p>
        </p:txBody>
      </p:sp>
      <p:sp>
        <p:nvSpPr>
          <p:cNvPr id="4" name="TextBox 3"/>
          <p:cNvSpPr txBox="1"/>
          <p:nvPr/>
        </p:nvSpPr>
        <p:spPr>
          <a:xfrm>
            <a:off x="6246000" y="1158844"/>
            <a:ext cx="5607264" cy="4909124"/>
          </a:xfrm>
          <a:prstGeom prst="rect">
            <a:avLst/>
          </a:prstGeom>
          <a:noFill/>
        </p:spPr>
        <p:txBody>
          <a:bodyPr wrap="square" anchor="t">
            <a:spAutoFit/>
          </a:bodyPr>
          <a:lstStyle/>
          <a:p>
            <a:pPr marL="250000" indent="-250000" algn="l">
              <a:lnSpc>
                <a:spcPct val="108000"/>
              </a:lnSpc>
              <a:spcAft>
                <a:spcPts val="1000"/>
              </a:spcAft>
              <a:buFont typeface="Arial"/>
              <a:buChar char="■"/>
            </a:pPr>
            <a:r>
              <a:rPr sz="1500" b="1">
                <a:solidFill>
                  <a:srgbClr val="003366"/>
                </a:solidFill>
                <a:latin typeface="Lato"/>
              </a:rPr>
              <a:t>Điều khiển đèn/quạt: thủ công, hẹn giờ, tự động</a:t>
            </a:r>
          </a:p>
          <a:p>
            <a:pPr marL="250000" indent="-250000" algn="l">
              <a:lnSpc>
                <a:spcPct val="108000"/>
              </a:lnSpc>
              <a:spcAft>
                <a:spcPts val="1000"/>
              </a:spcAft>
              <a:buFont typeface="Arial"/>
              <a:buChar char="■"/>
            </a:pPr>
            <a:r>
              <a:rPr sz="1500" b="1">
                <a:solidFill>
                  <a:srgbClr val="003366"/>
                </a:solidFill>
                <a:latin typeface="Lato"/>
              </a:rPr>
              <a:t>Cảnh báo cháy theo ngưỡng PPM</a:t>
            </a:r>
          </a:p>
          <a:p>
            <a:pPr marL="250000" indent="-250000" algn="l">
              <a:lnSpc>
                <a:spcPct val="108000"/>
              </a:lnSpc>
              <a:spcAft>
                <a:spcPts val="1000"/>
              </a:spcAft>
              <a:buFont typeface="Arial"/>
              <a:buChar char="■"/>
            </a:pPr>
            <a:r>
              <a:rPr sz="1500" b="1">
                <a:solidFill>
                  <a:srgbClr val="003366"/>
                </a:solidFill>
                <a:latin typeface="Lato"/>
              </a:rPr>
              <a:t>JWT, refresh token, rate limit, validate input</a:t>
            </a:r>
          </a:p>
          <a:p>
            <a:pPr marL="250000" indent="-250000" algn="l">
              <a:lnSpc>
                <a:spcPct val="108000"/>
              </a:lnSpc>
              <a:spcAft>
                <a:spcPts val="1000"/>
              </a:spcAft>
              <a:buFont typeface="Arial"/>
              <a:buChar char="■"/>
            </a:pPr>
            <a:r>
              <a:rPr sz="1500" b="1">
                <a:solidFill>
                  <a:srgbClr val="003366"/>
                </a:solidFill>
                <a:latin typeface="Lato"/>
              </a:rPr>
              <a:t>MQTT ACL với 2 credential riêng biệt</a:t>
            </a:r>
          </a:p>
          <a:p>
            <a:pPr marL="250000" indent="-250000" algn="l">
              <a:lnSpc>
                <a:spcPct val="108000"/>
              </a:lnSpc>
              <a:spcAft>
                <a:spcPts val="1000"/>
              </a:spcAft>
              <a:buFont typeface="Arial"/>
              <a:buChar char="■"/>
            </a:pPr>
            <a:r>
              <a:rPr sz="1500" b="1">
                <a:solidFill>
                  <a:srgbClr val="003366"/>
                </a:solidFill>
                <a:latin typeface="Lato"/>
              </a:rPr>
              <a:t>(esp32-main và be-server)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Hạn chế &amp; hướng phát triển</a:t>
            </a:r>
          </a:p>
        </p:txBody>
      </p:sp>
      <p:sp>
        <p:nvSpPr>
          <p:cNvPr id="3" name="Rounded Rectangle 2"/>
          <p:cNvSpPr/>
          <p:nvPr/>
        </p:nvSpPr>
        <p:spPr>
          <a:xfrm>
            <a:off x="338736" y="1118844"/>
            <a:ext cx="5557264" cy="460000"/>
          </a:xfrm>
          <a:prstGeom prst="round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736" y="1118844"/>
            <a:ext cx="5357264" cy="460000"/>
          </a:xfrm>
          <a:prstGeom prst="rect">
            <a:avLst/>
          </a:prstGeom>
          <a:noFill/>
        </p:spPr>
        <p:txBody>
          <a:bodyPr wrap="square" anchor="ctr">
            <a:spAutoFit/>
          </a:bodyPr>
          <a:lstStyle/>
          <a:p>
            <a:pPr algn="l">
              <a:lnSpc>
                <a:spcPct val="100000"/>
              </a:lnSpc>
              <a:buNone/>
            </a:pPr>
            <a:r>
              <a:rPr sz="1600" b="1" i="0">
                <a:solidFill>
                  <a:srgbClr val="FFFFFF"/>
                </a:solidFill>
                <a:latin typeface="Lato"/>
              </a:rPr>
              <a:t>Hạn chế</a:t>
            </a:r>
          </a:p>
        </p:txBody>
      </p:sp>
      <p:sp>
        <p:nvSpPr>
          <p:cNvPr id="5" name="TextBox 4"/>
          <p:cNvSpPr txBox="1"/>
          <p:nvPr/>
        </p:nvSpPr>
        <p:spPr>
          <a:xfrm>
            <a:off x="338736" y="1678844"/>
            <a:ext cx="5557264" cy="4289124"/>
          </a:xfrm>
          <a:prstGeom prst="rect">
            <a:avLst/>
          </a:prstGeom>
          <a:noFill/>
        </p:spPr>
        <p:txBody>
          <a:bodyPr wrap="square" anchor="t">
            <a:spAutoFit/>
          </a:bodyPr>
          <a:lstStyle/>
          <a:p>
            <a:pPr marL="250000" indent="-250000" algn="l">
              <a:lnSpc>
                <a:spcPct val="108000"/>
              </a:lnSpc>
              <a:spcAft>
                <a:spcPts val="1000"/>
              </a:spcAft>
              <a:buFont typeface="Arial"/>
              <a:buChar char="■"/>
            </a:pPr>
            <a:r>
              <a:rPr sz="1400" b="1">
                <a:solidFill>
                  <a:srgbClr val="003366"/>
                </a:solidFill>
                <a:latin typeface="Lato"/>
              </a:rPr>
              <a:t>Một ESP32 điều khiển toàn bộ thiết bị, số lượng thiết bị còn ít</a:t>
            </a:r>
          </a:p>
          <a:p>
            <a:pPr marL="250000" indent="-250000" algn="l">
              <a:lnSpc>
                <a:spcPct val="108000"/>
              </a:lnSpc>
              <a:spcAft>
                <a:spcPts val="1000"/>
              </a:spcAft>
              <a:buFont typeface="Arial"/>
              <a:buChar char="■"/>
            </a:pPr>
            <a:r>
              <a:rPr sz="1400" b="1">
                <a:solidFill>
                  <a:srgbClr val="003366"/>
                </a:solidFill>
                <a:latin typeface="Lato"/>
              </a:rPr>
              <a:t>Chưa có web dashboard riêng cho admin</a:t>
            </a:r>
          </a:p>
          <a:p>
            <a:pPr marL="250000" indent="-250000" algn="l">
              <a:lnSpc>
                <a:spcPct val="108000"/>
              </a:lnSpc>
              <a:spcAft>
                <a:spcPts val="1000"/>
              </a:spcAft>
              <a:buFont typeface="Arial"/>
              <a:buChar char="■"/>
            </a:pPr>
            <a:r>
              <a:rPr sz="1400" b="1">
                <a:solidFill>
                  <a:srgbClr val="003366"/>
                </a:solidFill>
                <a:latin typeface="Lato"/>
              </a:rPr>
              <a:t>Chưa phân quyền người dùng theo vai trò</a:t>
            </a:r>
          </a:p>
          <a:p>
            <a:pPr marL="250000" indent="-250000" algn="l">
              <a:lnSpc>
                <a:spcPct val="108000"/>
              </a:lnSpc>
              <a:spcAft>
                <a:spcPts val="1000"/>
              </a:spcAft>
              <a:buFont typeface="Arial"/>
              <a:buChar char="■"/>
            </a:pPr>
            <a:r>
              <a:rPr sz="1400" b="1">
                <a:solidFill>
                  <a:srgbClr val="003366"/>
                </a:solidFill>
                <a:latin typeface="Lato"/>
              </a:rPr>
              <a:t>Giao diện app chưa tối ưu cho nhiều phòng/thiết bị</a:t>
            </a:r>
          </a:p>
        </p:txBody>
      </p:sp>
      <p:sp>
        <p:nvSpPr>
          <p:cNvPr id="6" name="Rounded Rectangle 5"/>
          <p:cNvSpPr/>
          <p:nvPr/>
        </p:nvSpPr>
        <p:spPr>
          <a:xfrm>
            <a:off x="6296000" y="1118844"/>
            <a:ext cx="5557264" cy="4600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96000" y="1118844"/>
            <a:ext cx="5357264" cy="460000"/>
          </a:xfrm>
          <a:prstGeom prst="rect">
            <a:avLst/>
          </a:prstGeom>
          <a:noFill/>
        </p:spPr>
        <p:txBody>
          <a:bodyPr wrap="square" anchor="ctr">
            <a:spAutoFit/>
          </a:bodyPr>
          <a:lstStyle/>
          <a:p>
            <a:pPr algn="l">
              <a:lnSpc>
                <a:spcPct val="100000"/>
              </a:lnSpc>
              <a:buNone/>
            </a:pPr>
            <a:r>
              <a:rPr sz="1600" b="1" i="0">
                <a:solidFill>
                  <a:srgbClr val="FFFFFF"/>
                </a:solidFill>
                <a:latin typeface="Lato"/>
              </a:rPr>
              <a:t>Hướng phát triển</a:t>
            </a:r>
          </a:p>
        </p:txBody>
      </p:sp>
      <p:sp>
        <p:nvSpPr>
          <p:cNvPr id="8" name="TextBox 7"/>
          <p:cNvSpPr txBox="1"/>
          <p:nvPr/>
        </p:nvSpPr>
        <p:spPr>
          <a:xfrm>
            <a:off x="6296000" y="1678844"/>
            <a:ext cx="5557264" cy="4289124"/>
          </a:xfrm>
          <a:prstGeom prst="rect">
            <a:avLst/>
          </a:prstGeom>
          <a:noFill/>
        </p:spPr>
        <p:txBody>
          <a:bodyPr wrap="square" anchor="t">
            <a:spAutoFit/>
          </a:bodyPr>
          <a:lstStyle/>
          <a:p>
            <a:pPr marL="250000" indent="-250000" algn="l">
              <a:lnSpc>
                <a:spcPct val="108000"/>
              </a:lnSpc>
              <a:spcAft>
                <a:spcPts val="1000"/>
              </a:spcAft>
              <a:buFont typeface="Arial"/>
              <a:buChar char="■"/>
            </a:pPr>
            <a:r>
              <a:rPr sz="1400" b="1">
                <a:solidFill>
                  <a:srgbClr val="003366"/>
                </a:solidFill>
                <a:latin typeface="Lato"/>
              </a:rPr>
              <a:t>Mở rộng nhiều phòng, nhiều ESP32, chuẩn hoá topic devices/{deviceId}/...</a:t>
            </a:r>
          </a:p>
          <a:p>
            <a:pPr marL="250000" indent="-250000" algn="l">
              <a:lnSpc>
                <a:spcPct val="108000"/>
              </a:lnSpc>
              <a:spcAft>
                <a:spcPts val="1000"/>
              </a:spcAft>
              <a:buFont typeface="Arial"/>
              <a:buChar char="■"/>
            </a:pPr>
            <a:r>
              <a:rPr sz="1400" b="1">
                <a:solidFill>
                  <a:srgbClr val="003366"/>
                </a:solidFill>
                <a:latin typeface="Lato"/>
              </a:rPr>
              <a:t>Web dashboard quản trị + push notification khi cảnh báo cháy</a:t>
            </a:r>
          </a:p>
          <a:p>
            <a:pPr marL="250000" indent="-250000" algn="l">
              <a:lnSpc>
                <a:spcPct val="108000"/>
              </a:lnSpc>
              <a:spcAft>
                <a:spcPts val="1000"/>
              </a:spcAft>
              <a:buFont typeface="Arial"/>
              <a:buChar char="■"/>
            </a:pPr>
            <a:r>
              <a:rPr sz="1400" b="1">
                <a:solidFill>
                  <a:srgbClr val="003366"/>
                </a:solidFill>
                <a:latin typeface="Lato"/>
              </a:rPr>
              <a:t>Thêm phân quyền người dùng &amp; audit log</a:t>
            </a:r>
          </a:p>
          <a:p>
            <a:pPr marL="250000" indent="-250000" algn="l">
              <a:lnSpc>
                <a:spcPct val="108000"/>
              </a:lnSpc>
              <a:spcAft>
                <a:spcPts val="1000"/>
              </a:spcAft>
              <a:buFont typeface="Arial"/>
              <a:buChar char="■"/>
            </a:pPr>
            <a:r>
              <a:rPr sz="1400" b="1">
                <a:solidFill>
                  <a:srgbClr val="003366"/>
                </a:solidFill>
                <a:latin typeface="Lato"/>
              </a:rPr>
              <a:t>Biểu đồ dữ liệu lịch sử nhiệt độ, độ ẩm, PPM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Kết luận</a:t>
            </a:r>
          </a:p>
        </p:txBody>
      </p:sp>
      <p:sp>
        <p:nvSpPr>
          <p:cNvPr id="3" name="TextBox 2"/>
          <p:cNvSpPr txBox="1"/>
          <p:nvPr/>
        </p:nvSpPr>
        <p:spPr>
          <a:xfrm>
            <a:off x="438736" y="1358844"/>
            <a:ext cx="11314528" cy="4909124"/>
          </a:xfrm>
          <a:prstGeom prst="rect">
            <a:avLst/>
          </a:prstGeom>
          <a:noFill/>
        </p:spPr>
        <p:txBody>
          <a:bodyPr wrap="square" anchor="t">
            <a:spAutoFit/>
          </a:bodyPr>
          <a:lstStyle/>
          <a:p>
            <a:pPr marL="250000" indent="-250000" algn="l">
              <a:lnSpc>
                <a:spcPct val="108000"/>
              </a:lnSpc>
              <a:spcAft>
                <a:spcPts val="1000"/>
              </a:spcAft>
              <a:buFont typeface="Arial"/>
              <a:buChar char="■"/>
            </a:pPr>
            <a:r>
              <a:rPr sz="1800" b="1">
                <a:solidFill>
                  <a:srgbClr val="003366"/>
                </a:solidFill>
                <a:latin typeface="Lato"/>
              </a:rPr>
              <a:t>Xây dựng hoàn chỉnh hệ thống nhà thông minh IoT: thiết bị, MQTT broker, backend, database, mobile app</a:t>
            </a:r>
          </a:p>
          <a:p>
            <a:pPr marL="250000" indent="-250000" algn="l">
              <a:lnSpc>
                <a:spcPct val="108000"/>
              </a:lnSpc>
              <a:spcAft>
                <a:spcPts val="1000"/>
              </a:spcAft>
              <a:buFont typeface="Arial"/>
              <a:buChar char="■"/>
            </a:pPr>
            <a:r>
              <a:rPr sz="1800" b="1">
                <a:solidFill>
                  <a:srgbClr val="003366"/>
                </a:solidFill>
                <a:latin typeface="Lato"/>
              </a:rPr>
              <a:t>Kiến trúc backend-trung tâm giúp tách biệt app và thiết bị, tập trung xác thực &amp; xử lý nghiệp vụ</a:t>
            </a:r>
          </a:p>
          <a:p>
            <a:pPr marL="250000" indent="-250000" algn="l">
              <a:lnSpc>
                <a:spcPct val="108000"/>
              </a:lnSpc>
              <a:spcAft>
                <a:spcPts val="1000"/>
              </a:spcAft>
              <a:buFont typeface="Arial"/>
              <a:buChar char="■"/>
            </a:pPr>
            <a:r>
              <a:rPr sz="1800" b="1">
                <a:solidFill>
                  <a:srgbClr val="003366"/>
                </a:solidFill>
                <a:latin typeface="Lato"/>
              </a:rPr>
              <a:t>Áp dụng các kỹ thuật bảo mật cơ bản: JWT, refresh token, rate limit, validate input, hash password, MQTT over TLS</a:t>
            </a:r>
          </a:p>
          <a:p>
            <a:pPr marL="250000" indent="-250000" algn="l">
              <a:lnSpc>
                <a:spcPct val="108000"/>
              </a:lnSpc>
              <a:spcAft>
                <a:spcPts val="1000"/>
              </a:spcAft>
              <a:buFont typeface="Arial"/>
              <a:buChar char="■"/>
            </a:pPr>
            <a:r>
              <a:rPr sz="1800" b="1">
                <a:solidFill>
                  <a:srgbClr val="003366"/>
                </a:solidFill>
                <a:latin typeface="Lato"/>
              </a:rPr>
              <a:t>Đáp ứng đầy đủ 3 yêu cầu chính của đề tài: kiến trúc, triển khai và bảo mật hệ thống IoT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50000" y="2450000"/>
            <a:ext cx="6942000" cy="1300000"/>
          </a:xfrm>
          <a:prstGeom prst="rect">
            <a:avLst/>
          </a:prstGeom>
          <a:noFill/>
        </p:spPr>
        <p:txBody>
          <a:bodyPr wrap="square" anchor="t">
            <a:spAutoFit/>
          </a:bodyPr>
          <a:lstStyle/>
          <a:p>
            <a:pPr algn="l">
              <a:lnSpc>
                <a:spcPct val="110000"/>
              </a:lnSpc>
              <a:buNone/>
            </a:pPr>
            <a:r>
              <a:rPr sz="3600" b="1" i="0">
                <a:solidFill>
                  <a:srgbClr val="003366"/>
                </a:solidFill>
                <a:latin typeface="Lato"/>
              </a:rPr>
              <a:t>CẢM ƠN THẦY/CÔ
ĐÃ LẮNG NGHE!</a:t>
            </a:r>
          </a:p>
        </p:txBody>
      </p:sp>
      <p:sp>
        <p:nvSpPr>
          <p:cNvPr id="3" name="TextBox 2"/>
          <p:cNvSpPr txBox="1"/>
          <p:nvPr/>
        </p:nvSpPr>
        <p:spPr>
          <a:xfrm>
            <a:off x="4750000" y="3950000"/>
            <a:ext cx="6942000" cy="400000"/>
          </a:xfrm>
          <a:prstGeom prst="rect">
            <a:avLst/>
          </a:prstGeom>
          <a:noFill/>
        </p:spPr>
        <p:txBody>
          <a:bodyPr wrap="square" anchor="t">
            <a:spAutoFit/>
          </a:bodyPr>
          <a:lstStyle/>
          <a:p>
            <a:pPr algn="l">
              <a:lnSpc>
                <a:spcPct val="100000"/>
              </a:lnSpc>
              <a:buNone/>
            </a:pPr>
            <a:r>
              <a:rPr sz="1500" b="0" i="0">
                <a:solidFill>
                  <a:srgbClr val="222222"/>
                </a:solidFill>
                <a:latin typeface="Lato"/>
              </a:rPr>
              <a:t>Trần Hoàng Sơn • Hà Quang Thắng • Trần Mạnh Đạt • Đặng Minh Ánh</a:t>
            </a:r>
          </a:p>
        </p:txBody>
      </p:sp>
      <p:sp>
        <p:nvSpPr>
          <p:cNvPr id="4" name="TextBox 3"/>
          <p:cNvSpPr txBox="1"/>
          <p:nvPr/>
        </p:nvSpPr>
        <p:spPr>
          <a:xfrm>
            <a:off x="4750000" y="4350000"/>
            <a:ext cx="6942000" cy="400000"/>
          </a:xfrm>
          <a:prstGeom prst="rect">
            <a:avLst/>
          </a:prstGeom>
          <a:noFill/>
        </p:spPr>
        <p:txBody>
          <a:bodyPr wrap="square" anchor="t">
            <a:spAutoFit/>
          </a:bodyPr>
          <a:lstStyle/>
          <a:p>
            <a:pPr algn="l">
              <a:lnSpc>
                <a:spcPct val="100000"/>
              </a:lnSpc>
              <a:buNone/>
            </a:pPr>
            <a:r>
              <a:rPr sz="1200" b="0" i="1">
                <a:solidFill>
                  <a:srgbClr val="5A5A5A"/>
                </a:solidFill>
                <a:latin typeface="Lato"/>
              </a:rPr>
              <a:t>IT6015 - Kiến trúc và Bảo mật trong hệ thống IoT  |  Hà Nội,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3437</Words>
  <Application>Microsoft Macintosh PowerPoint</Application>
  <PresentationFormat>Widescreen</PresentationFormat>
  <Paragraphs>228</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Lato</vt:lpstr>
      <vt:lpstr>Office Theme</vt:lpstr>
      <vt:lpstr>PowerPoint Presentation</vt:lpstr>
      <vt:lpstr>BẢO MẬT HỆ THỐNG IOT: CASE STUDY NHÀ THÔNG MINH</vt:lpstr>
      <vt:lpstr>Nội dung trình bày</vt:lpstr>
      <vt:lpstr>Giới thiệu đề tài</vt:lpstr>
      <vt:lpstr>Mục tiêu &amp; Phạm vi đề tài</vt:lpstr>
      <vt:lpstr>Yêu cầu chức năng &amp; phi chức năng</vt:lpstr>
      <vt:lpstr>PowerPoint Presentation</vt:lpstr>
      <vt:lpstr>Sơ đồ kiến trúc hệ thống</vt:lpstr>
      <vt:lpstr>Các thành phần hệ thống &amp; công nghệ</vt:lpstr>
      <vt:lpstr>PowerPoint Presentation</vt:lpstr>
      <vt:lpstr>Chức năng điều khiển đèn &amp; quạt</vt:lpstr>
      <vt:lpstr>Logic ưu tiên chống xung đột &amp; cảnh báo cháy</vt:lpstr>
      <vt:lpstr>Giao diện mobile app</vt:lpstr>
      <vt:lpstr>PowerPoint Presentation</vt:lpstr>
      <vt:lpstr>Tổng quan rủi ro bảo mật</vt:lpstr>
      <vt:lpstr>Các biện pháp bảo mật đã áp dụng</vt:lpstr>
      <vt:lpstr>Kết quả đạt được</vt:lpstr>
      <vt:lpstr>Hạn chế &amp; hướng phát triển</vt:lpstr>
      <vt:lpstr>Kết luận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Tran Manh Dat 20252607M</cp:lastModifiedBy>
  <cp:revision>10</cp:revision>
  <dcterms:created xsi:type="dcterms:W3CDTF">2021-05-28T04:32:29Z</dcterms:created>
  <dcterms:modified xsi:type="dcterms:W3CDTF">2026-07-20T09:09:49Z</dcterms:modified>
</cp:coreProperties>
</file>