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7"/>
    <p:sldId id="264" r:id="rId6"/>
    <p:sldId id="265" r:id="rId5"/>
    <p:sldId id="266" r:id="rId4"/>
    <p:sldId id="267" r:id="rId3"/>
    <p:sldId id="268" r:id="rId2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384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pPr/>
              <a:t>12/12/2022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12/12/2022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12/12/2022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00376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Lato"/>
              </a:rPr>
              <a:t>BẢO MẬT HỆ THỐNG IOT:</a:t>
            </a:r>
          </a:p>
          <a:p>
            <a:pPr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Lato"/>
              </a:rPr>
              <a:t>CASE STUDY NHÀ THÔNG MINH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562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 i="0">
                <a:solidFill>
                  <a:srgbClr val="C02034"/>
                </a:solidFill>
                <a:latin typeface="Lato"/>
              </a:rPr>
              <a:t>Báo cáo bài tập lớn - Kiến trúc và Bảo mật trong hệ thống IoT (IT6015)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6040000"/>
            <a:ext cx="109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300" b="0" i="0">
                <a:solidFill>
                  <a:srgbClr val="FFFFFF"/>
                </a:solidFill>
                <a:latin typeface="Lato"/>
              </a:rPr>
              <a:t>GVHD: TS. Phạm Ngọc Hưng  •  TS. Trịnh Văn Chiến  •  PGS. Trần Quang Đức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6350000"/>
            <a:ext cx="109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200" b="0" i="0">
                <a:solidFill>
                  <a:srgbClr val="FFFFFF"/>
                </a:solidFill>
                <a:latin typeface="Lato"/>
              </a:rPr>
              <a:t>Thành viên: Trần Hoàng Sơn • Hà Quang Thắng • Trần Mạnh Đạt • Đặng Minh Ánh  |  Hà Nội,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 trình bày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8736" y="1358844"/>
            <a:ext cx="10914528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2000" b="1">
                <a:solidFill>
                  <a:srgbClr val="003366"/>
                </a:solidFill>
                <a:latin typeface="Lato"/>
              </a:rPr>
              <a:t>1. Giới thiệu &amp; yêu cầu hệ thống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2000" b="1">
                <a:solidFill>
                  <a:srgbClr val="003366"/>
                </a:solidFill>
                <a:latin typeface="Lato"/>
              </a:rPr>
              <a:t>2. Phần 1 - Kiến trúc tổng quan hệ thống IoT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2000" b="1">
                <a:solidFill>
                  <a:srgbClr val="003366"/>
                </a:solidFill>
                <a:latin typeface="Lato"/>
              </a:rPr>
              <a:t>3. Phần 2 - Triển khai xây dựng hệ thống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2000" b="1">
                <a:solidFill>
                  <a:srgbClr val="003366"/>
                </a:solidFill>
                <a:latin typeface="Lato"/>
              </a:rPr>
              <a:t>4. Phần 3 - Bảo mật hệ thống IoT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2000" b="1">
                <a:solidFill>
                  <a:srgbClr val="003366"/>
                </a:solidFill>
                <a:latin typeface="Lato"/>
              </a:rPr>
              <a:t>5. Kết quả, hạn chế &amp; kết luận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Giới thiệu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736" y="1208844"/>
            <a:ext cx="11314528" cy="49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Nhà thông minh là bài toán phù hợp để thể hiện đầy đủ các thành phần cơ bản của một hệ thống IoT</a:t>
            </a:r>
          </a:p>
          <a:p>
            <a:pPr algn="l" marL="620000" indent="-220000">
              <a:lnSpc>
                <a:spcPct val="108000"/>
              </a:lnSpc>
              <a:spcAft>
                <a:spcPts val="600"/>
              </a:spcAft>
              <a:buFont typeface="Arial"/>
              <a:buChar char="–"/>
            </a:pPr>
            <a:r>
              <a:rPr sz="1600" b="0">
                <a:solidFill>
                  <a:srgbClr val="222222"/>
                </a:solidFill>
                <a:latin typeface="Lato"/>
              </a:rPr>
              <a:t>Thiết bị phần cứng thu thập dữ liệu môi trường (ESP32 + cảm biến)</a:t>
            </a:r>
          </a:p>
          <a:p>
            <a:pPr algn="l" marL="620000" indent="-220000">
              <a:lnSpc>
                <a:spcPct val="108000"/>
              </a:lnSpc>
              <a:spcAft>
                <a:spcPts val="600"/>
              </a:spcAft>
              <a:buFont typeface="Arial"/>
              <a:buChar char="–"/>
            </a:pPr>
            <a:r>
              <a:rPr sz="1600" b="0">
                <a:solidFill>
                  <a:srgbClr val="222222"/>
                </a:solidFill>
                <a:latin typeface="Lato"/>
              </a:rPr>
              <a:t>Backend xử lý nghiệp vụ, database lưu trữ dữ liệu, mobile app để theo dõi &amp; điều khiển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Mục tiêu: xây dựng hệ thống hoàn chỉnh ở mức demo, hoạt động với phần cứng thật và ứng dụng mobile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Ý nghĩa: nghiên cứu và áp dụng các kỹ thuật bảo mật cơ bản cho hệ thống IoT có khả năng điều khiển thiết bị vật lý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Mục tiêu &amp; Phạm vi đề tài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8736" y="1118844"/>
            <a:ext cx="5557264" cy="5000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736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Lato"/>
              </a:rPr>
              <a:t>Mục tiêu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736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Thiết kế kiến trúc tổng quan hệ thống nhà thông minh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Xây dựng ESP32 kết nối cảm biến &amp; thiết bị chấp hành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Backend Node.js/Express, lưu dữ liệu bằng MongoDB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MQTT broker trao đổi dữ liệu backend ↔ ESP32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Mobile app React Native để tương tác với hệ thống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Áp dụng JWT, refresh token, rate limit, MQTT TLS...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6000" y="1118844"/>
            <a:ext cx="5557264" cy="500000"/>
          </a:xfrm>
          <a:prstGeom prst="roundRect">
            <a:avLst/>
          </a:prstGeom>
          <a:solidFill>
            <a:srgbClr val="C0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6000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Lato"/>
              </a:rPr>
              <a:t>Phạm vi demo cuối kỳ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6000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Một ESP32 đóng vai trò gateway &amp; bộ điều khiển trung tâm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Cảm biến DHT22 (nhiệt độ/độ ẩm), MQ135 (khí PPM), ánh sáng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Một đèn, một quạt điều khiển qua relay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MQTT broker cloud (EMQX) + MongoDB Atlas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Chưa gồm: nhiều thiết bị/phòng, đa vai trò người dùng, bảo mật phần cứng nâng cao, triển khai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Yêu cầu chức năng &amp; phi chức năng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8736" y="1118844"/>
            <a:ext cx="5557264" cy="5000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736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Lato"/>
              </a:rPr>
              <a:t>Chức năng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736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Người dùng: đăng ký, đăng nhập, refresh token, đăng xuất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Giám sát môi trường: nhiệt độ, độ ẩm, PPM, cảnh báo cháy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Điều khiển đèn/quạt: thủ công, hẹn giờ, tự động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Cảnh báo cháy: nhận trạng thái từ ESP32, áp dụng an toàn cho quạt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6000" y="1118844"/>
            <a:ext cx="5557264" cy="500000"/>
          </a:xfrm>
          <a:prstGeom prst="roundRect">
            <a:avLst/>
          </a:prstGeom>
          <a:solidFill>
            <a:srgbClr val="C0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6000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Lato"/>
              </a:rPr>
              <a:t>Phi chức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6000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Backend ↔ thiết bị IoT có độ trễ thấp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Backend ↔ MQTT broker dùng MQTT over TLS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API nghiệp vụ được xác thực bằng JWT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Logic tự động có thứ tự ưu tiên, tránh xung đột (tay/hẹn giờ/cảm biến)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600" b="1">
                <a:solidFill>
                  <a:srgbClr val="003366"/>
                </a:solidFill>
                <a:latin typeface="Lato"/>
              </a:rPr>
              <a:t>Hệ thống cấu hình được bằng biến môi trường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150000"/>
            <a:ext cx="8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 i="0">
                <a:solidFill>
                  <a:srgbClr val="C02034"/>
                </a:solidFill>
                <a:latin typeface="Lato"/>
              </a:rPr>
              <a:t>PHẦN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2650000"/>
            <a:ext cx="9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3600" b="1" i="0">
                <a:solidFill>
                  <a:srgbClr val="003366"/>
                </a:solidFill>
                <a:latin typeface="Lato"/>
              </a:rPr>
              <a:t>KIẾN TRÚC TỔNG QUAN
HỆ THỐNG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950000"/>
            <a:ext cx="8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0" i="0">
                <a:solidFill>
                  <a:srgbClr val="5A5A5A"/>
                </a:solidFill>
                <a:latin typeface="Lato"/>
              </a:rPr>
              <a:t>Sơ đồ kiến trúc  •  Thành phần &amp; công nghệ  •  Phương thức giao tiếp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Sơ đồ kiến trúc hệ thống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594" y="1058844"/>
            <a:ext cx="5336812" cy="4409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736" y="5487968"/>
            <a:ext cx="11514528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300" b="0" i="1">
                <a:solidFill>
                  <a:srgbClr val="5A5A5A"/>
                </a:solidFill>
                <a:latin typeface="Lato"/>
              </a:rPr>
              <a:t>Mobile app không giao tiếp trực tiếp với ESP32 - mọi thao tác đều đi qua backend, giúp kiểm soát quyền truy cập và tập trung logic nghiệp vụ.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 thành phần hệ thống &amp; công nghệ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38736" y="1158844"/>
          <a:ext cx="11514528" cy="36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00000"/>
                <a:gridCol w="5200000"/>
                <a:gridCol w="4314528"/>
              </a:tblGrid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Lato"/>
                        </a:rPr>
                        <a:t>Thành phần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Lato"/>
                        </a:rPr>
                        <a:t>Công nghệ sử dụng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Lato"/>
                        </a:rPr>
                        <a:t>Vai trò chính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Thiết bị IoT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ESP32, DHT22, MQ135, cảm biến ánh sáng, relay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Thu thập dữ liệu &amp; điều khiển đèn/quạt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MQTT Broker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EMQX Cloud (MQTT over TLS)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Trung gian pub/sub giữa backend và ESP32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Backend Server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Node.js, Express.js, Mongoose, MQTT.js, JWT, Swagger/OpenAPI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REST API, xác thực, logic nghiệp vụ, MQTT client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Database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MongoDB Atlas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Lưu user, token, trạng thái thiết bị, dữ liệu cảm biến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Mobile App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React Native, TypeScript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Giao diện người dùng, điều khiển thiết bị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150000"/>
            <a:ext cx="8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 i="0">
                <a:solidFill>
                  <a:srgbClr val="C02034"/>
                </a:solidFill>
                <a:latin typeface="Lato"/>
              </a:rPr>
              <a:t>PHẦN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2650000"/>
            <a:ext cx="9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3600" b="1" i="0">
                <a:solidFill>
                  <a:srgbClr val="003366"/>
                </a:solidFill>
                <a:latin typeface="Lato"/>
              </a:rPr>
              <a:t>TRIỂN KHAI XÂY DỰNG
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950000"/>
            <a:ext cx="8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0" i="0">
                <a:solidFill>
                  <a:srgbClr val="5A5A5A"/>
                </a:solidFill>
                <a:latin typeface="Lato"/>
              </a:rPr>
              <a:t>Chức năng nghiệp vụ  •  Giao diện mobile 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Chức năng điều khiển đèn &amp; quạt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8736" y="1118844"/>
            <a:ext cx="5557264" cy="5000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736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1" i="0">
                <a:solidFill>
                  <a:srgbClr val="FFFFFF"/>
                </a:solidFill>
                <a:latin typeface="Lato"/>
              </a:rPr>
              <a:t>Đèn - 3 chế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736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Thủ công: app gửi lệnh → backend cập nhật DB → publish MQTT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Hẹn giờ: autoOnTime/autoOffTime, backend quét mỗi 5 giây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Cảm biến ánh sáng: ESP32 tự quyết định bật/tắt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manualOverride + lastAutoReason: tránh timer/cảm biến bật/tắt nhầm sau thao tác tay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6000" y="1118844"/>
            <a:ext cx="5557264" cy="500000"/>
          </a:xfrm>
          <a:prstGeom prst="round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6000" y="1118844"/>
            <a:ext cx="5357264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1" i="0">
                <a:solidFill>
                  <a:srgbClr val="FFFFFF"/>
                </a:solidFill>
                <a:latin typeface="Lato"/>
              </a:rPr>
              <a:t>Quạt - 3 chế độ &amp; an toàn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6000" y="1758844"/>
            <a:ext cx="5557264" cy="42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Thủ công / hẹn giờ: cơ chế tương tự đèn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Auto cooling: tự bật khi nhiệt độ ≥ ngưỡng và PPM &lt; 900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An toàn khí gas: PPM &gt; 1100 → backend force tắt quạt bất kể đang bật do đâu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Logic ưu tiên chống xung đột &amp; cảnh báo cháy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736" y="1058844"/>
            <a:ext cx="11514528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1" i="0">
                <a:solidFill>
                  <a:srgbClr val="003366"/>
                </a:solidFill>
                <a:latin typeface="Lato"/>
              </a:rPr>
              <a:t>Thứ tự ưu tiên điều khiển quạt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8736" y="1478844"/>
            <a:ext cx="2900000" cy="800000"/>
          </a:xfrm>
          <a:prstGeom prst="roundRect">
            <a:avLst/>
          </a:prstGeom>
          <a:solidFill>
            <a:srgbClr val="C0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Lato"/>
              </a:rPr>
              <a:t>Gas danger
(PPM &gt; 1100)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438736" y="1728844"/>
            <a:ext cx="300000" cy="30000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38736" y="1478844"/>
            <a:ext cx="2900000" cy="8000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Lato"/>
              </a:rPr>
              <a:t>Timer / Manual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638736" y="1728844"/>
            <a:ext cx="300000" cy="30000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38736" y="1478844"/>
            <a:ext cx="2900000" cy="800000"/>
          </a:xfrm>
          <a:prstGeom prst="round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Lato"/>
              </a:rPr>
              <a:t>Auto cooling
(nhiệt độ)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736" y="2328844"/>
            <a:ext cx="93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 i="1">
                <a:solidFill>
                  <a:srgbClr val="5A5A5A"/>
                </a:solidFill>
                <a:latin typeface="Lato"/>
              </a:rPr>
              <a:t>Ưu tiên giảm dần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736" y="2628844"/>
            <a:ext cx="11514528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Timer chỉ tự tắt quạt/đèn do chính timer bật (lastAutoReason = timer), tránh tắt nhầm khi người dùng bật tay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manualOverride ngăn timer bật lại thiết bị vừa bị người dùng tắt thủ công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736" y="3528844"/>
            <a:ext cx="11514528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1" i="0">
                <a:solidFill>
                  <a:srgbClr val="003366"/>
                </a:solidFill>
                <a:latin typeface="Lato"/>
              </a:rPr>
              <a:t>Ngưỡng cảnh báo chất lượng không khí (PPM)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38736" y="3878844"/>
          <a:ext cx="11514528" cy="11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757264"/>
                <a:gridCol w="5757264"/>
              </a:tblGrid>
              <a:tr h="275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Lato"/>
                        </a:rPr>
                        <a:t>Điều kiện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Lato"/>
                        </a:rPr>
                        <a:t>Trạng thái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</a:tr>
              <a:tr h="275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PPM &lt; 900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Tốt / an toàn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275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900 ≤ PPM ≤ 1100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Cảnh báo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275000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Lato"/>
                        </a:rPr>
                        <a:t>PPM &gt; 1100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Lato"/>
                        </a:rPr>
                        <a:t>Nguy hiểm / báo cháy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Giao diện mobile app</a:t>
            </a:r>
          </a:p>
        </p:txBody>
      </p:sp>
      <p:pic>
        <p:nvPicPr>
          <p:cNvPr id="3" name="Picture 2" descr="scr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44" y="1058844"/>
            <a:ext cx="2106559" cy="4559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736" y="5617968"/>
            <a:ext cx="3638176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300" b="1" i="0">
                <a:solidFill>
                  <a:srgbClr val="003366"/>
                </a:solidFill>
                <a:latin typeface="Lato"/>
              </a:rPr>
              <a:t>Đăng nhập / Đăng ký</a:t>
            </a:r>
          </a:p>
        </p:txBody>
      </p:sp>
      <p:pic>
        <p:nvPicPr>
          <p:cNvPr id="5" name="Picture 4" descr="sc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720" y="1058844"/>
            <a:ext cx="2106559" cy="45591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76912" y="5617968"/>
            <a:ext cx="3638176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300" b="1" i="0">
                <a:solidFill>
                  <a:srgbClr val="003366"/>
                </a:solidFill>
                <a:latin typeface="Lato"/>
              </a:rPr>
              <a:t>Dashboard</a:t>
            </a:r>
          </a:p>
        </p:txBody>
      </p:sp>
      <p:pic>
        <p:nvPicPr>
          <p:cNvPr id="7" name="Picture 6" descr="scr_ti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0896" y="1058844"/>
            <a:ext cx="2106559" cy="4559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15088" y="5617968"/>
            <a:ext cx="3638176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300" b="1" i="0">
                <a:solidFill>
                  <a:srgbClr val="003366"/>
                </a:solidFill>
                <a:latin typeface="Lato"/>
              </a:rPr>
              <a:t>Hẹn giờ &amp; tự động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150000"/>
            <a:ext cx="8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 i="0">
                <a:solidFill>
                  <a:srgbClr val="C02034"/>
                </a:solidFill>
                <a:latin typeface="Lato"/>
              </a:rPr>
              <a:t>PHẦN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2650000"/>
            <a:ext cx="9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3600" b="1" i="0">
                <a:solidFill>
                  <a:srgbClr val="003366"/>
                </a:solidFill>
                <a:latin typeface="Lato"/>
              </a:rPr>
              <a:t>BẢO MẬT HỆ THỐNG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950000"/>
            <a:ext cx="8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0" i="0">
                <a:solidFill>
                  <a:srgbClr val="5A5A5A"/>
                </a:solidFill>
                <a:latin typeface="Lato"/>
              </a:rPr>
              <a:t>Rủi ro  •  Biện pháp bảo mật đã áp dụng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Tổng quan rủi ro bảo mật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38736" y="1118844"/>
          <a:ext cx="11514528" cy="46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00000"/>
                <a:gridCol w="4400000"/>
                <a:gridCol w="4314528"/>
              </a:tblGrid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Lato"/>
                        </a:rPr>
                        <a:t>Rủi ro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Lato"/>
                        </a:rPr>
                        <a:t>Mô tả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Lato"/>
                        </a:rPr>
                        <a:t>Biện pháp áp dụng</a:t>
                      </a:r>
                    </a:p>
                  </a:txBody>
                  <a:tcPr marL="60000" marR="60000" marT="20000" marB="20000" anchor="ctr">
                    <a:solidFill>
                      <a:srgbClr val="003366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Gọi API trái phép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Người lạ điều khiển thiết bị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JWT access token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Brute-force login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Thử nhiều mật khẩu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Rate limit login/register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Lộ mật khẩu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Database bị lộ dữ liệu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Hash password bằng scrypt + salt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Token bị đánh cắp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Access token bị lạm dụng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Access token ngắn hạn + refresh token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NoSQL injection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Payload object độc hại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Validate input strict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Nghe lén MQTT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Lộ dữ liệu cảm biến/lệnh điều khiển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MQTT over TLS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Client publish sai topic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Điều khiển sai thiết bị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Đề xuất / áp dụng MQTT ACL</a:t>
                      </a:r>
                    </a:p>
                  </a:txBody>
                  <a:tcPr marL="60000" marR="60000" marT="16000" marB="16000" anchor="ctr">
                    <a:solidFill>
                      <a:srgbClr val="FFFFFF"/>
                    </a:solidFill>
                  </a:tcPr>
                </a:tc>
              </a:tr>
              <a:tr h="511112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Lato"/>
                        </a:rPr>
                        <a:t>Logic tự động nguy hiểm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Quạt chạy khi gas nguy hiểm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Lato"/>
                        </a:rPr>
                        <a:t>Gas danger priority</a:t>
                      </a:r>
                    </a:p>
                  </a:txBody>
                  <a:tcPr marL="60000" marR="60000" marT="16000" marB="1600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 biện pháp bảo mật đã áp dụng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8736" y="1118844"/>
            <a:ext cx="3638176" cy="4600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8736" y="1118844"/>
            <a:ext cx="3478176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Lato"/>
              </a:rPr>
              <a:t>Xác thực &amp;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736" y="1678844"/>
            <a:ext cx="3638176" cy="428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JWT access token, kiểm tra qua header Authorization: Bearer &lt;token&gt;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Middleware xác thực đặt trước toàn bộ API nghiệp vụ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Refresh token lưu hash trong DB, rotate sau mỗi lần dùng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Rate limit login/register theo IP + username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912" y="1118844"/>
            <a:ext cx="3638176" cy="460000"/>
          </a:xfrm>
          <a:prstGeom prst="roundRect">
            <a:avLst/>
          </a:prstGeom>
          <a:solidFill>
            <a:srgbClr val="C0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56912" y="1118844"/>
            <a:ext cx="3478176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Lato"/>
              </a:rPr>
              <a:t>Chống injection &amp; cấu hình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6912" y="1678844"/>
            <a:ext cx="3638176" cy="428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Mật khẩu hash bằng scrypt kèm salt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Validate input nghiêm ngặt, chặn payload NoSQL injection kiểu { "$ne": null }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Secret (MONGO_URI, JWT_SECRET, MQTT...) đưa vào biến môi trường, .gitignore riêng từng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5088" y="1118844"/>
            <a:ext cx="3638176" cy="460000"/>
          </a:xfrm>
          <a:prstGeom prst="round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5088" y="1118844"/>
            <a:ext cx="3478176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Lato"/>
              </a:rPr>
              <a:t>Bảo mật kênh MQTT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5088" y="1678844"/>
            <a:ext cx="3638176" cy="428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Kết nối broker qua mqtts:// (MQTT over TLS)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Backend và ESP32 dùng username/password riêng, không chung credential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300" b="1">
                <a:solidFill>
                  <a:srgbClr val="003366"/>
                </a:solidFill>
                <a:latin typeface="Lato"/>
              </a:rPr>
              <a:t>Không dùng wildcard # - ACL giới hạn theo nhóm topic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Kết quả đạt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736" y="1158844"/>
            <a:ext cx="5607264" cy="49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Kiến trúc tổng quan hệ thống IoT smart home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Backend Node.js/Express hoàn chỉnh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Mobile app bằng React Native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Kết nối MQTT broker cloud EMQX (TLS)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ESP32 gửi dữ liệu &amp; nhận lệnh điều khiển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6000" y="1158844"/>
            <a:ext cx="5607264" cy="49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Điều khiển đèn/quạt: thủ công, hẹn giờ, tự động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Cảnh báo cháy theo ngưỡng PPM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JWT, refresh token, rate limit, validate input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MQTT ACL với 2 credential riêng biệt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500" b="1">
                <a:solidFill>
                  <a:srgbClr val="003366"/>
                </a:solidFill>
                <a:latin typeface="Lato"/>
              </a:rPr>
              <a:t>(esp32-main và be-server)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Hạn chế &amp; hướng phát triển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8736" y="1118844"/>
            <a:ext cx="5557264" cy="460000"/>
          </a:xfrm>
          <a:prstGeom prst="roundRect">
            <a:avLst/>
          </a:prstGeom>
          <a:solidFill>
            <a:srgbClr val="C0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736" y="1118844"/>
            <a:ext cx="5357264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1" i="0">
                <a:solidFill>
                  <a:srgbClr val="FFFFFF"/>
                </a:solidFill>
                <a:latin typeface="Lato"/>
              </a:rPr>
              <a:t>Hạn chế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736" y="1678844"/>
            <a:ext cx="5557264" cy="428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Một ESP32 điều khiển toàn bộ thiết bị, số lượng thiết bị còn ít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Chưa có web dashboard riêng cho admin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Chưa phân quyền người dùng theo vai trò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Giao diện app chưa tối ưu cho nhiều phòng/thiết bị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6000" y="1118844"/>
            <a:ext cx="5557264" cy="4600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6000" y="1118844"/>
            <a:ext cx="5357264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600" b="1" i="0">
                <a:solidFill>
                  <a:srgbClr val="FFFFFF"/>
                </a:solidFill>
                <a:latin typeface="Lato"/>
              </a:rPr>
              <a:t>Hướng phát triển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6000" y="1678844"/>
            <a:ext cx="5557264" cy="428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Mở rộng nhiều phòng, nhiều ESP32, chuẩn hoá topic devices/{deviceId}/...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Web dashboard quản trị + push notification khi cảnh báo cháy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Thêm phân quyền người dùng &amp; audit log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400" b="1">
                <a:solidFill>
                  <a:srgbClr val="003366"/>
                </a:solidFill>
                <a:latin typeface="Lato"/>
              </a:rPr>
              <a:t>Biểu đồ dữ liệu lịch sử nhiệt độ, độ ẩm, PPM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736" y="1358844"/>
            <a:ext cx="11314528" cy="49091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Xây dựng hoàn chỉnh hệ thống nhà thông minh IoT: thiết bị, MQTT broker, backend, database, mobile app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Kiến trúc backend-trung tâm giúp tách biệt app và thiết bị, tập trung xác thực &amp; xử lý nghiệp vụ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Áp dụng các kỹ thuật bảo mật cơ bản: JWT, refresh token, rate limit, validate input, hash password, MQTT over TLS</a:t>
            </a:r>
          </a:p>
          <a:p>
            <a:pPr algn="l" marL="250000" indent="-250000">
              <a:lnSpc>
                <a:spcPct val="108000"/>
              </a:lnSpc>
              <a:spcAft>
                <a:spcPts val="1000"/>
              </a:spcAft>
              <a:buFont typeface="Arial"/>
              <a:buChar char="■"/>
            </a:pPr>
            <a:r>
              <a:rPr sz="1800" b="1">
                <a:solidFill>
                  <a:srgbClr val="003366"/>
                </a:solidFill>
                <a:latin typeface="Lato"/>
              </a:rPr>
              <a:t>Đáp ứng đầy đủ 3 yêu cầu chính của đề tài: kiến trúc, triển khai và bảo mật hệ thống IoT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0000" y="2450000"/>
            <a:ext cx="6942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3600" b="1" i="0">
                <a:solidFill>
                  <a:srgbClr val="003366"/>
                </a:solidFill>
                <a:latin typeface="Lato"/>
              </a:rPr>
              <a:t>CẢM ƠN THẦY/CÔ
ĐÃ LẮNG NGHE!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0000" y="3950000"/>
            <a:ext cx="6942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0" i="0">
                <a:solidFill>
                  <a:srgbClr val="222222"/>
                </a:solidFill>
                <a:latin typeface="Lato"/>
              </a:rPr>
              <a:t>Trần Hoàng Sơn • Hà Quang Thắng • Trần Mạnh Đạt • Đặng Minh Ánh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0000" y="4350000"/>
            <a:ext cx="6942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" b="0" i="1">
                <a:solidFill>
                  <a:srgbClr val="5A5A5A"/>
                </a:solidFill>
                <a:latin typeface="Lato"/>
              </a:rPr>
              <a:t>IT6015 - Kiến trúc và Bảo mật trong hệ thống IoT  |  Hà Nội,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26</Words>
  <Application>Microsoft Office PowerPoint</Application>
  <PresentationFormat>Màn hình rộng</PresentationFormat>
  <Paragraphs>15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HUST CCPR</cp:lastModifiedBy>
  <cp:revision>9</cp:revision>
  <dcterms:created xsi:type="dcterms:W3CDTF">2021-05-28T04:32:29Z</dcterms:created>
  <dcterms:modified xsi:type="dcterms:W3CDTF">2022-12-12T04:52:04Z</dcterms:modified>
</cp:coreProperties>
</file>