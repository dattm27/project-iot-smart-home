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Lato"/>
              </a:rPr>
              <a:t>BẢO MẬT HỆ THỐNG IOT:</a:t>
            </a:r>
          </a:p>
          <a:p>
            <a:pPr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Lato"/>
              </a:rPr>
              <a:t>CASE STUDY NHÀ THÔNG MINH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562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C02034"/>
                </a:solidFill>
                <a:latin typeface="Lato"/>
              </a:rPr>
              <a:t>Báo cáo bài tập lớn - Kiến trúc và Bảo mật trong hệ thống IoT (IT6015)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040000"/>
            <a:ext cx="109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0" i="0">
                <a:solidFill>
                  <a:srgbClr val="FFFFFF"/>
                </a:solidFill>
                <a:latin typeface="Lato"/>
              </a:rPr>
              <a:t>GVHD: TS. Phạm Ngọc Hưng  •  TS. Trịnh Văn Chiến  •  PGS. Trần Quang Đức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6350000"/>
            <a:ext cx="109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Lato"/>
              </a:rPr>
              <a:t>Thành viên: Trần Hoàng Sơn • Hà Quang Thắng • Trần Mạnh Đạt • Đặng Minh Ánh  |  Hà Nội,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8736" y="1358844"/>
            <a:ext cx="10914528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2000" b="1">
                <a:solidFill>
                  <a:srgbClr val="003366"/>
                </a:solidFill>
                <a:latin typeface="Lato"/>
              </a:rPr>
              <a:t>1. Giới thiệu &amp; yêu cầu hệ thống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2000" b="1">
                <a:solidFill>
                  <a:srgbClr val="003366"/>
                </a:solidFill>
                <a:latin typeface="Lato"/>
              </a:rPr>
              <a:t>2. Phần 1 - Kiến trúc tổng quan hệ thống IoT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2000" b="1">
                <a:solidFill>
                  <a:srgbClr val="003366"/>
                </a:solidFill>
                <a:latin typeface="Lato"/>
              </a:rPr>
              <a:t>3. Phần 2 - Triển khai xây dựng hệ thống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2000" b="1">
                <a:solidFill>
                  <a:srgbClr val="003366"/>
                </a:solidFill>
                <a:latin typeface="Lato"/>
              </a:rPr>
              <a:t>4. Phần 3 - Bảo mật hệ thống IoT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2000" b="1">
                <a:solidFill>
                  <a:srgbClr val="003366"/>
                </a:solidFill>
                <a:latin typeface="Lato"/>
              </a:rPr>
              <a:t>5. Kết quả, hạn chế &amp; kết luận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Nhà thông minh là bài toán phù hợp để thể hiện đầy đủ các thành phần cơ bản của một hệ thống IoT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600" b="0">
                <a:solidFill>
                  <a:srgbClr val="222222"/>
                </a:solidFill>
                <a:latin typeface="Lato"/>
              </a:rPr>
              <a:t>Thiết bị phần cứng thu thập dữ liệu môi trường (ESP32 + cảm biến)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600" b="0">
                <a:solidFill>
                  <a:srgbClr val="222222"/>
                </a:solidFill>
                <a:latin typeface="Lato"/>
              </a:rPr>
              <a:t>Backend xử lý nghiệp vụ, database lưu trữ dữ liệu, mobile app để theo dõi &amp; điều khiển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Mục tiêu: xây dựng hệ thống hoàn chỉnh ở mức demo, hoạt động với phần cứng thật và ứng dụng mobile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Ý nghĩa: nghiên cứu và áp dụng các kỹ thuật bảo mật cơ bản cho hệ thống IoT có khả năng điều khiển thiết bị vật lý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Phạm vi đề tài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736" y="1118844"/>
            <a:ext cx="5557264" cy="5000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736" y="1118844"/>
            <a:ext cx="5357264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Lato"/>
              </a:rPr>
              <a:t>Mục tiêu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736" y="1758844"/>
            <a:ext cx="5557264" cy="42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Thiết kế kiến trúc tổng quan hệ thống nhà thông minh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Xây dựng ESP32 kết nối cảm biến &amp; thiết bị chấp hành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Backend Node.js/Express, lưu dữ liệu bằng MongoDB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MQTT broker trao đổi dữ liệu backend ↔ ESP32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Mobile app React Native để tương tác với hệ thống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Áp dụng JWT, refresh token, rate limit, MQTT TLS...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6000" y="1118844"/>
            <a:ext cx="5557264" cy="500000"/>
          </a:xfrm>
          <a:prstGeom prst="roundRect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6000" y="1118844"/>
            <a:ext cx="5357264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Lato"/>
              </a:rPr>
              <a:t>Phạm vi demo cuối kỳ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6000" y="1758844"/>
            <a:ext cx="5557264" cy="42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Một ESP32 đóng vai trò gateway &amp; bộ điều khiển trung tâm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Cảm biến DHT22 (nhiệt độ/độ ẩm), MQ135 (khí PPM), ánh sáng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Một đèn, một quạt điều khiển qua relay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MQTT broker cloud (EMQX) + MongoDB Atlas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Chưa gồm: nhiều thiết bị/phòng, đa vai trò người dùng, bảo mật phần cứng nâng cao, triển khai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Yêu cầu chức năng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Người dùng: đăng ký, đăng nhập, refresh token, đăng xuất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Giám sát môi trường: nhiệt độ, độ ẩm, PPM, chất lượng không khí, cảnh báo cháy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Điều khiển đèn: bật/tắt thủ công, hẹn giờ, theo cảm biến ánh sáng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Điều khiển quạt: bật/tắt thủ công, hẹn giờ, tự động theo nhiệt độ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Cảnh báo cháy: nhận trạng thái active/inactive từ ESP32, áp dụng an toàn cho quạt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Yêu cầu phi chức năng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Giao tiếp backend ↔ thiết bị IoT có độ trễ thấp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Dữ liệu backend ↔ MQTT broker dùng MQTT over TLS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API nghiệp vụ được xác thực bằng JWT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Dữ liệu người dùng &amp; thiết bị lưu trữ trong database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Giao diện mobile dễ quan sát, dễ thao tác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Logic tự động có thứ tự ưu tiên để tránh xung đột (tay / hẹn giờ / cảm biến)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Hệ thống cấu hình được bằng biến môi trường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150000"/>
            <a:ext cx="8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 i="0">
                <a:solidFill>
                  <a:srgbClr val="C02034"/>
                </a:solidFill>
                <a:latin typeface="Lato"/>
              </a:rPr>
              <a:t>PHẦN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2650000"/>
            <a:ext cx="9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3600" b="1" i="0">
                <a:solidFill>
                  <a:srgbClr val="003366"/>
                </a:solidFill>
                <a:latin typeface="Lato"/>
              </a:rPr>
              <a:t>KIẾN TRÚC TỔNG QUAN
HỆ THỐNG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3950000"/>
            <a:ext cx="8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0" i="0">
                <a:solidFill>
                  <a:srgbClr val="5A5A5A"/>
                </a:solidFill>
                <a:latin typeface="Lato"/>
              </a:rPr>
              <a:t>Sơ đồ kiến trúc  •  Thành phần &amp; công nghệ  •  Phương thức giao tiếp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Sơ đồ kiến trúc hệ thống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94" y="1058844"/>
            <a:ext cx="5336812" cy="44091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736" y="5487968"/>
            <a:ext cx="11514528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0" i="1">
                <a:solidFill>
                  <a:srgbClr val="5A5A5A"/>
                </a:solidFill>
                <a:latin typeface="Lato"/>
              </a:rPr>
              <a:t>Mobile app không giao tiếp trực tiếp với ESP32 - mọi thao tác đều đi qua backend, giúp kiểm soát quyền truy cập và tập trung logic nghiệp vụ.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thành phần hệ thống &amp; công nghệ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8736" y="1158844"/>
          <a:ext cx="11514528" cy="36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0000"/>
                <a:gridCol w="5200000"/>
                <a:gridCol w="4314528"/>
              </a:tblGrid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Lato"/>
                        </a:rPr>
                        <a:t>Thành phần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Lato"/>
                        </a:rPr>
                        <a:t>Công nghệ sử dụng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Lato"/>
                        </a:rPr>
                        <a:t>Vai trò chính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Thiết bị IoT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ESP32, DHT22, MQ135, cảm biến ánh sáng, relay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Thu thập dữ liệu &amp; điều khiển đèn/quạt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MQTT Broker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EMQX Cloud (MQTT over TLS)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Trung gian pub/sub giữa backend và ESP32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Backend Server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Node.js, Express.js, Mongoose, MQTT.js, JWT, Swagger/OpenAPI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REST API, xác thực, logic nghiệp vụ, MQTT client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Database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MongoDB Atlas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Lưu user, token, trạng thái thiết bị, dữ liệu cảm biến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Mobile App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React Native, TypeScript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Giao diện người dùng, điều khiển thiết bị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tiếp: Mobile App ↔ Backend (REST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36" y="1058844"/>
            <a:ext cx="11514528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i="1">
                <a:solidFill>
                  <a:srgbClr val="003366"/>
                </a:solidFill>
                <a:latin typeface="Lato"/>
              </a:rPr>
              <a:t>Mọi API nghiệp vụ yêu cầu access token trong header:  Authorization: Bearer &lt;access-token&gt;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8736" y="1508844"/>
          <a:ext cx="11514528" cy="42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00000"/>
                <a:gridCol w="1600000"/>
                <a:gridCol w="6114528"/>
              </a:tblGrid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API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Method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Ý nghĩa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/auth/register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POST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Đăng ký tài khoản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/auth/login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POST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Đăng nhập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/auth/refresh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POST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Làm mới access token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/lights/OnOff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PUT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Bật/tắt đèn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/lights/Timer/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PUT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Cấu hình hẹn giờ đèn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/lights/SensorMode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PUT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Bật/tắt chế độ cảm biến ánh sáng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/fans/OnOff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PUT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Bật/tắt quạt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/fans/AutoCooling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PUT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Cấu hình quạt tự động theo nhiệt độ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/fire-alarm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GET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Lấy trạng thái báo cháy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tiếp: Backend ↔ MQTT Broker ↔ ESP32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8736" y="1158844"/>
          <a:ext cx="11514528" cy="455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000"/>
                <a:gridCol w="1900000"/>
                <a:gridCol w="1900000"/>
                <a:gridCol w="4514528"/>
              </a:tblGrid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Topic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Publisher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Subscriber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Ý nghĩa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MQ135/Statistics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Gửi dữ liệu khí PPM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DHT22/Statistics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Gửi nhiệt độ, độ ẩm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MQ135/FireAlarm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Gửi trạng thái báo cháy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lights/01/server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Lệnh bật/tắt đèn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lights/01/button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Phản hồi trạng thái đèn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lights/01/sensorControl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Bật/tắt chế độ cảm biến ánh sáng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05555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fans/01/server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Lệnh bật/tắt quạt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0556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fans/01/button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ESP32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Backend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Phản hồi trạng thái quạt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150000"/>
            <a:ext cx="8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 i="0">
                <a:solidFill>
                  <a:srgbClr val="C02034"/>
                </a:solidFill>
                <a:latin typeface="Lato"/>
              </a:rPr>
              <a:t>PHẦN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2650000"/>
            <a:ext cx="9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3600" b="1" i="0">
                <a:solidFill>
                  <a:srgbClr val="003366"/>
                </a:solidFill>
                <a:latin typeface="Lato"/>
              </a:rPr>
              <a:t>TRIỂN KHAI XÂY DỰNG
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3950000"/>
            <a:ext cx="8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0" i="0">
                <a:solidFill>
                  <a:srgbClr val="5A5A5A"/>
                </a:solidFill>
                <a:latin typeface="Lato"/>
              </a:rPr>
              <a:t>Thiết kế dữ liệu  •  Chức năng nghiệp vụ  •  Giao diện mobile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dữ liệu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8736" y="1158844"/>
          <a:ext cx="11514528" cy="455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00000"/>
                <a:gridCol w="8914528"/>
              </a:tblGrid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Lato"/>
                        </a:rPr>
                        <a:t>Model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Lato"/>
                        </a:rPr>
                        <a:t>Vai trò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User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Tài khoản người dùng (mật khẩu hash bằng scrypt)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RefreshToken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Quản lý refresh token (lưu dạng hash, có expiresAt/revokedAt)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Light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Trạng thái &amp; cấu hình đèn: timer, manualOverride, lightSensorEnabled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Fan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Trạng thái &amp; cấu hình quạt: timer, autoOnByTemperature, autoOnTemperature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MQ135Statistics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Dữ liệu khí PPM &amp; đánh giá chất lượng không khí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DHT22Statistics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Dữ liệu nhiệt độ và độ ẩm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6875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FireAlarm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Trạng thái cảnh báo cháy (active / inactive)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Chức năng xác thực người dùng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36" y="1058844"/>
            <a:ext cx="11514528" cy="1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600" b="1">
                <a:solidFill>
                  <a:srgbClr val="003366"/>
                </a:solidFill>
                <a:latin typeface="Lato"/>
              </a:rPr>
              <a:t>Đăng nhập thành công → backend cấp access token (JWT) + refresh token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600" b="1">
                <a:solidFill>
                  <a:srgbClr val="003366"/>
                </a:solidFill>
                <a:latin typeface="Lato"/>
              </a:rPr>
              <a:t>Access token: thời gian sống ngắn, dùng để gọi các API nghiệp vụ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600" b="1">
                <a:solidFill>
                  <a:srgbClr val="003366"/>
                </a:solidFill>
                <a:latin typeface="Lato"/>
              </a:rPr>
              <a:t>Refresh token: lưu dạng hash trong database, dùng để cấp lại access token khi hết hạn</a:t>
            </a:r>
          </a:p>
        </p:txBody>
      </p:sp>
      <p:pic>
        <p:nvPicPr>
          <p:cNvPr id="4" name="Picture 3" descr="flow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63" y="2258844"/>
            <a:ext cx="6181873" cy="37091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Chức năng điều khiển đèn - 3 chế độ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Thủ công: app gửi PUT /lights/OnOff → backend cập nhật DB → publish lights/01/server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Hẹn giờ: cấu hình autoOnTime/autoOffTime, backend quét định kỳ mỗi 5 giây (checkAutoLights)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Cảm biến ánh sáng: bật lightSensorEnabled → ESP32 tự quyết định, publish lights/01/sensor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manualOverride: ngăn timer bật lại đèn ngay sau khi người dùng vừa tắt thủ công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lastAutoReason: đánh dấu nguồn tự động gần nhất (timer / light_sensor) để tránh tắt nhầm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 hoạ luồng điều khiển đèn</a:t>
            </a:r>
          </a:p>
        </p:txBody>
      </p:sp>
      <p:pic>
        <p:nvPicPr>
          <p:cNvPr id="3" name="Picture 2" descr="flow_light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6" y="1696279"/>
            <a:ext cx="5607264" cy="32842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736" y="5617968"/>
            <a:ext cx="5607264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1" i="0">
                <a:solidFill>
                  <a:srgbClr val="003366"/>
                </a:solidFill>
                <a:latin typeface="Lato"/>
              </a:rPr>
              <a:t>Hẹn giờ bật/tắt đèn</a:t>
            </a:r>
          </a:p>
        </p:txBody>
      </p:sp>
      <p:pic>
        <p:nvPicPr>
          <p:cNvPr id="5" name="Picture 4" descr="flow_light_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693609"/>
            <a:ext cx="5607264" cy="3289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6000" y="5617968"/>
            <a:ext cx="5607264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1" i="0">
                <a:solidFill>
                  <a:srgbClr val="003366"/>
                </a:solidFill>
                <a:latin typeface="Lato"/>
              </a:rPr>
              <a:t>Đèn theo cảm biến ánh sáng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Chức năng điều khiển quạt - 3 chế độ &amp; an toàn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Thủ công / Hẹn giờ: cơ chế tương tự đèn (manualOverride, lastAutoReason = timer)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Auto cooling theo nhiệt độ: bật autoOnByTemperature với ngưỡng autoOnTemperature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Điều kiện tự bật: nhiệt độ hiện tại ≥ ngưỡng, và PPM đã có dữ liệu và PPM &lt; 900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An toàn khí gas: PPM &gt; 1100 → backend force tắt quạt, bất kể quạt đang bật do đâu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manualOverride KHÔNG chặn auto cooling - người dùng cần tắt autoOnByTemperature để dừng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 hoạ luồng điều khiển quạt</a:t>
            </a:r>
          </a:p>
        </p:txBody>
      </p:sp>
      <p:pic>
        <p:nvPicPr>
          <p:cNvPr id="3" name="Picture 2" descr="flow_fan_m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6" y="1730990"/>
            <a:ext cx="5607264" cy="321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736" y="5617968"/>
            <a:ext cx="5607264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1" i="0">
                <a:solidFill>
                  <a:srgbClr val="003366"/>
                </a:solidFill>
                <a:latin typeface="Lato"/>
              </a:rPr>
              <a:t>Bật/tắt quạt thủ công</a:t>
            </a:r>
          </a:p>
        </p:txBody>
      </p:sp>
      <p:pic>
        <p:nvPicPr>
          <p:cNvPr id="5" name="Picture 4" descr="flow_fan_auto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656227"/>
            <a:ext cx="5607264" cy="33643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6000" y="5617968"/>
            <a:ext cx="5607264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1" i="0">
                <a:solidFill>
                  <a:srgbClr val="003366"/>
                </a:solidFill>
                <a:latin typeface="Lato"/>
              </a:rPr>
              <a:t>Quạt tự động theo nhiệt độ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ưu tiên chống xung đột &amp; cảnh báo cháy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36" y="1058844"/>
            <a:ext cx="11514528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003366"/>
                </a:solidFill>
                <a:latin typeface="Lato"/>
              </a:rPr>
              <a:t>Thứ tự ưu tiên điều khiển quạt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8736" y="1478844"/>
            <a:ext cx="2900000" cy="800000"/>
          </a:xfrm>
          <a:prstGeom prst="roundRect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Gas danger
(PPM &gt; 1100)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8736" y="1728844"/>
            <a:ext cx="300000" cy="30000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38736" y="1478844"/>
            <a:ext cx="2900000" cy="8000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Timer / Manual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638736" y="1728844"/>
            <a:ext cx="300000" cy="30000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38736" y="1478844"/>
            <a:ext cx="2900000" cy="800000"/>
          </a:xfrm>
          <a:prstGeom prst="round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Auto cooling
(nhiệt độ)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736" y="2328844"/>
            <a:ext cx="93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 i="1">
                <a:solidFill>
                  <a:srgbClr val="5A5A5A"/>
                </a:solidFill>
                <a:latin typeface="Lato"/>
              </a:rPr>
              <a:t>Ưu tiên giảm dần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736" y="2628844"/>
            <a:ext cx="11514528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Timer chỉ tự tắt quạt/đèn do chính timer bật (lastAutoReason = timer), tránh tắt nhầm khi người dùng bật tay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manualOverride ngăn timer bật lại thiết bị vừa bị người dùng tắt thủ công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736" y="3528844"/>
            <a:ext cx="11514528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003366"/>
                </a:solidFill>
                <a:latin typeface="Lato"/>
              </a:rPr>
              <a:t>Ngưỡng cảnh báo chất lượng không khí (PPM)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38736" y="3878844"/>
          <a:ext cx="11514528" cy="11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57264"/>
                <a:gridCol w="5757264"/>
              </a:tblGrid>
              <a:tr h="275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Điều kiện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Trạng thái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275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PPM &lt; 900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Tốt / an toàn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900 ≤ PPM ≤ 1100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Cảnh báo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275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222"/>
                          </a:solidFill>
                          <a:latin typeface="Lato"/>
                        </a:rPr>
                        <a:t>PPM &gt; 1100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Lato"/>
                        </a:rPr>
                        <a:t>Nguy hiểm / báo cháy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mobile: Đăng nhập &amp; Đăng ký</a:t>
            </a:r>
          </a:p>
        </p:txBody>
      </p:sp>
      <p:pic>
        <p:nvPicPr>
          <p:cNvPr id="3" name="Picture 2" descr="sc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29" y="1058844"/>
            <a:ext cx="2268278" cy="4909124"/>
          </a:xfrm>
          <a:prstGeom prst="rect">
            <a:avLst/>
          </a:prstGeom>
        </p:spPr>
      </p:pic>
      <p:pic>
        <p:nvPicPr>
          <p:cNvPr id="4" name="Picture 3" descr="scr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493" y="1058844"/>
            <a:ext cx="2268278" cy="49091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mobile: Dashboard &amp; Danh sách thiết bị</a:t>
            </a:r>
          </a:p>
        </p:txBody>
      </p:sp>
      <p:pic>
        <p:nvPicPr>
          <p:cNvPr id="3" name="Picture 2" descr="sc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29" y="1058844"/>
            <a:ext cx="2268278" cy="4909124"/>
          </a:xfrm>
          <a:prstGeom prst="rect">
            <a:avLst/>
          </a:prstGeom>
        </p:spPr>
      </p:pic>
      <p:pic>
        <p:nvPicPr>
          <p:cNvPr id="4" name="Picture 3" descr="scr_de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493" y="1058844"/>
            <a:ext cx="2268278" cy="49091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mobile: Hẹn giờ &amp; Tự động theo nhiệt độ</a:t>
            </a:r>
          </a:p>
        </p:txBody>
      </p:sp>
      <p:pic>
        <p:nvPicPr>
          <p:cNvPr id="3" name="Picture 2" descr="scr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29" y="1058844"/>
            <a:ext cx="2268278" cy="4909124"/>
          </a:xfrm>
          <a:prstGeom prst="rect">
            <a:avLst/>
          </a:prstGeom>
        </p:spPr>
      </p:pic>
      <p:pic>
        <p:nvPicPr>
          <p:cNvPr id="4" name="Picture 3" descr="scr_autocoo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493" y="1058844"/>
            <a:ext cx="2268278" cy="49091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150000"/>
            <a:ext cx="8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 i="0">
                <a:solidFill>
                  <a:srgbClr val="C02034"/>
                </a:solidFill>
                <a:latin typeface="Lato"/>
              </a:rPr>
              <a:t>PHẦN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2650000"/>
            <a:ext cx="9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3600" b="1" i="0">
                <a:solidFill>
                  <a:srgbClr val="003366"/>
                </a:solidFill>
                <a:latin typeface="Lato"/>
              </a:rPr>
              <a:t>BẢO MẬT HỆ THỐNG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3950000"/>
            <a:ext cx="8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0" i="0">
                <a:solidFill>
                  <a:srgbClr val="5A5A5A"/>
                </a:solidFill>
                <a:latin typeface="Lato"/>
              </a:rPr>
              <a:t>Rủi ro  •  Xác thực &amp; API  •  Bảo mật MQTT  •  Cấu hình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rủi ro bảo mật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8736" y="1118844"/>
          <a:ext cx="11514528" cy="46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00000"/>
                <a:gridCol w="4400000"/>
                <a:gridCol w="4314528"/>
              </a:tblGrid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Rủi ro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Mô tả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Biện pháp áp dụng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Gọi API trái phép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Người lạ điều khiển thiết bị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JWT access token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Brute-force login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Thử nhiều mật khẩu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Rate limit login/register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Lộ mật khẩu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Database bị lộ dữ liệu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Hash password bằng scrypt + salt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Token bị đánh cắp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Access token bị lạm dụng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Access token ngắn hạn + refresh token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NoSQL injection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Payload object độc hại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Validate input strict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Nghe lén MQTT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Lộ dữ liệu cảm biến/lệnh điều khiển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MQTT over TLS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Client publish sai topic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Điều khiển sai thiết bị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Đề xuất / áp dụng MQTT ACL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511112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Lato"/>
                        </a:rPr>
                        <a:t>Logic tự động nguy hiểm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Quạt chạy khi gas nguy hiểm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Lato"/>
                        </a:rPr>
                        <a:t>Gas danger priority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Xác thực người dùng &amp; bảo vệ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JWT access token ký bằng secret ở backend, kiểm tra qua header Authorization: Bearer &lt;token&gt;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Middleware xác thực đặt trước toàn bộ API nghiệp vụ (đèn, quạt, timer, dữ liệu cảm biến)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API public không cần token: /auth/register, /auth/login, /auth/refresh, /auth/logout, /api-docs, /health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Refresh token: lưu dạng hash trong DB, rotate sau mỗi lần refresh, bị xoá khi logout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Rate limit cho login/register: giới hạn theo IP + username, vượt quá trả lỗi 429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Chống injection, hash mật khẩu &amp; bảo mật cấu hình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20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Mật khẩu được hash bằng scrypt kèm salt trước khi lưu vào database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Validate input nghiêm ngặt để chống NoSQL injection, ví dụ chặn payload dạng { "$ne": null }</a:t>
            </a:r>
          </a:p>
          <a:p>
            <a:pPr algn="l" marL="620000" indent="-220000">
              <a:lnSpc>
                <a:spcPct val="108000"/>
              </a:lnSpc>
              <a:spcAft>
                <a:spcPts val="600"/>
              </a:spcAft>
              <a:buFont typeface="Arial"/>
              <a:buChar char="–"/>
            </a:pPr>
            <a:r>
              <a:rPr sz="1500" b="0">
                <a:solidFill>
                  <a:srgbClr val="222222"/>
                </a:solidFill>
                <a:latin typeface="Lato"/>
              </a:rPr>
              <a:t>type, timerEnabled, enabled... phải đúng kiểu dữ liệu; name chỉ chứa ký tự hợp lệ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Thông tin nhạy cảm (MONGO_URI, JWT_SECRET, MQTT_USERNAME/PASSWORD) đưa vào biến môi trường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700" b="1">
                <a:solidFill>
                  <a:srgbClr val="003366"/>
                </a:solidFill>
                <a:latin typeface="Lato"/>
              </a:rPr>
              <a:t>.gitignore riêng cho từng project (Backend, Mobile App, ESP32) để tránh commit nhầm credentials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Bảo mật kênh MQTT: TLS &amp;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36" y="1058844"/>
            <a:ext cx="11514528" cy="1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Kết nối MQTT broker qua mqtts:// (MQTT over TLS) - mã hoá dữ liệu truyền giữa backend, broker và ESP32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Backend và ESP32 xác thực với broker bằng username/password riêng, không dùng chung 1 credential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Không dùng wildcard # cho ESP32 - nếu credential bị lộ, attacker chỉ giới hạn trong nhóm topic được cấp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8736" y="2708844"/>
          <a:ext cx="11514528" cy="22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000"/>
                <a:gridCol w="4957264"/>
                <a:gridCol w="4957264"/>
              </a:tblGrid>
              <a:tr h="733333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Client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Được publish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Được subscribe</a:t>
                      </a:r>
                    </a:p>
                  </a:txBody>
                  <a:tcPr marL="60000" marR="60000" marT="20000" marB="20000" anchor="ctr">
                    <a:solidFill>
                      <a:srgbClr val="003366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Lato"/>
                        </a:rPr>
                        <a:t>be-server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Lato"/>
                        </a:rPr>
                        <a:t>lights/01/server, lights/01/sensorControl, fans/01/server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Lato"/>
                        </a:rPr>
                        <a:t>MQ135/Statistics, MQ135/FireAlarm, DHT22/Statistics, lights/01/button, lights/01/sensor, fans/01/button</a:t>
                      </a:r>
                    </a:p>
                  </a:txBody>
                  <a:tcPr marL="60000" marR="60000" marT="16000" marB="16000" anchor="ctr">
                    <a:solidFill>
                      <a:srgbClr val="FFFFFF"/>
                    </a:solidFill>
                  </a:tcPr>
                </a:tc>
              </a:tr>
              <a:tr h="733334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Lato"/>
                        </a:rPr>
                        <a:t>esp32-main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Lato"/>
                        </a:rPr>
                        <a:t>MQ135/Statistics, MQ135/FireAlarm, DHT22/Statistics, lights/01/button, lights/01/sensor, fans/01/button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Lato"/>
                        </a:rPr>
                        <a:t>lights/01/server, lights/01/sensorControl, fans/01/server</a:t>
                      </a:r>
                    </a:p>
                  </a:txBody>
                  <a:tcPr marL="60000" marR="60000" marT="16000" marB="1600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Điểm yếu bảo mật còn tồn tại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736" y="1118844"/>
            <a:ext cx="5557264" cy="460000"/>
          </a:xfrm>
          <a:prstGeom prst="roundRect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736" y="1118844"/>
            <a:ext cx="5357264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Lato"/>
              </a:rPr>
              <a:t>Còn tồn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736" y="1678844"/>
            <a:ext cx="5557264" cy="428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có HTTPS công khai cho backend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cấu hình CORS whitelist theo domain cụ thể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dùng HTTP security headers (Helmet)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có audit log cho thao tác điều khiển thiết bị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MQTT ACL còn phân theo nhóm topic tương đối rộng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6000" y="1118844"/>
            <a:ext cx="5557264" cy="46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6000" y="1118844"/>
            <a:ext cx="5357264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Lato"/>
              </a:rPr>
              <a:t>Hướng khắc phục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6000" y="1678844"/>
            <a:ext cx="5557264" cy="428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Cấu hình ACL chi tiết theo nguyên tắc least privilege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Secure boot &amp; flash encryption cho ESP32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Bổ sung audit log đầy đủ cho thao tác thiết bị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Rotate MQTT password định kỳ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Cơ chế revoke toàn bộ token khi đổi mật khẩu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36" y="1158844"/>
            <a:ext cx="5607264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Kiến trúc tổng quan hệ thống IoT smart home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Backend Node.js/Express hoàn chỉnh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Mobile app bằng React Native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Kết nối MQTT broker cloud EMQX (TLS)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ESP32 gửi dữ liệu &amp; nhận lệnh điều khiển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6000" y="1158844"/>
            <a:ext cx="5607264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Điều khiển đèn/quạt: thủ công, hẹn giờ, tự động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Cảnh báo cháy theo ngưỡng PPM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JWT, refresh token, rate limit, validate input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MQTT ACL với 2 credential riêng biệt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500" b="1">
                <a:solidFill>
                  <a:srgbClr val="003366"/>
                </a:solidFill>
                <a:latin typeface="Lato"/>
              </a:rPr>
              <a:t>(esp32-main và be-server)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Hạn chế &amp;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736" y="1118844"/>
            <a:ext cx="5557264" cy="460000"/>
          </a:xfrm>
          <a:prstGeom prst="roundRect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736" y="1118844"/>
            <a:ext cx="5357264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Lato"/>
              </a:rPr>
              <a:t>Hạn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736" y="1678844"/>
            <a:ext cx="5557264" cy="428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Một ESP32 điều khiển toàn bộ thiết bị, số lượng thiết bị còn ít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có web dashboard riêng cho admin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Chưa phân quyền người dùng theo vai trò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Giao diện app chưa tối ưu cho nhiều phòng/thiết bị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6000" y="1118844"/>
            <a:ext cx="5557264" cy="46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6000" y="1118844"/>
            <a:ext cx="5357264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Lato"/>
              </a:rPr>
              <a:t>Hướng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6000" y="1678844"/>
            <a:ext cx="5557264" cy="428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Mở rộng nhiều phòng, nhiều ESP32, chuẩn hoá topic devices/{deviceId}/...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Web dashboard quản trị + push notification khi cảnh báo cháy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Thêm phân quyền người dùng &amp; audit log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400" b="1">
                <a:solidFill>
                  <a:srgbClr val="003366"/>
                </a:solidFill>
                <a:latin typeface="Lato"/>
              </a:rPr>
              <a:t>Biểu đồ dữ liệu lịch sử nhiệt độ, độ ẩm, PPM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736" y="1358844"/>
            <a:ext cx="11314528" cy="49091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Xây dựng hoàn chỉnh hệ thống nhà thông minh IoT: thiết bị, MQTT broker, backend, database, mobile app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Kiến trúc backend-trung tâm giúp tách biệt app và thiết bị, tập trung xác thực &amp; xử lý nghiệp vụ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Áp dụng các kỹ thuật bảo mật cơ bản: JWT, refresh token, rate limit, validate input, hash password, MQTT over TLS</a:t>
            </a:r>
          </a:p>
          <a:p>
            <a:pPr algn="l" marL="250000" indent="-250000">
              <a:lnSpc>
                <a:spcPct val="108000"/>
              </a:lnSpc>
              <a:spcAft>
                <a:spcPts val="1000"/>
              </a:spcAft>
              <a:buFont typeface="Arial"/>
              <a:buChar char="■"/>
            </a:pPr>
            <a:r>
              <a:rPr sz="1800" b="1">
                <a:solidFill>
                  <a:srgbClr val="003366"/>
                </a:solidFill>
                <a:latin typeface="Lato"/>
              </a:rPr>
              <a:t>Đáp ứng đầy đủ 3 yêu cầu chính của đề tài: kiến trúc, triển khai và bảo mật hệ thống IoT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0000" y="2450000"/>
            <a:ext cx="6942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3600" b="1" i="0">
                <a:solidFill>
                  <a:srgbClr val="003366"/>
                </a:solidFill>
                <a:latin typeface="Lato"/>
              </a:rPr>
              <a:t>CẢM ƠN THẦY/CÔ
ĐÃ LẮNG NGHE!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0000" y="3950000"/>
            <a:ext cx="694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222222"/>
                </a:solidFill>
                <a:latin typeface="Lato"/>
              </a:rPr>
              <a:t>Trần Hoàng Sơn • Hà Quang Thắng • Trần Mạnh Đạt • Đặng Minh 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0000" y="4350000"/>
            <a:ext cx="694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i="1">
                <a:solidFill>
                  <a:srgbClr val="5A5A5A"/>
                </a:solidFill>
                <a:latin typeface="Lato"/>
              </a:rPr>
              <a:t>IT6015 - Kiến trúc và Bảo mật trong hệ thống IoT  |  Hà Nội,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</Words>
  <Application>Microsoft Office PowerPoint</Application>
  <PresentationFormat>Màn hình rộng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9</cp:revision>
  <dcterms:created xsi:type="dcterms:W3CDTF">2021-05-28T04:32:29Z</dcterms:created>
  <dcterms:modified xsi:type="dcterms:W3CDTF">2022-12-12T04:52:04Z</dcterms:modified>
</cp:coreProperties>
</file>